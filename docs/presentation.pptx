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3.xml" ContentType="application/vnd.openxmlformats-officedocument.drawingml.chart+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69" r:id="rId3"/>
    <p:sldId id="270" r:id="rId4"/>
    <p:sldId id="259" r:id="rId5"/>
    <p:sldId id="267" r:id="rId6"/>
    <p:sldId id="271" r:id="rId7"/>
    <p:sldId id="272" r:id="rId8"/>
    <p:sldId id="273" r:id="rId9"/>
    <p:sldId id="257" r:id="rId10"/>
    <p:sldId id="261" r:id="rId11"/>
    <p:sldId id="262" r:id="rId12"/>
    <p:sldId id="263" r:id="rId13"/>
    <p:sldId id="264" r:id="rId14"/>
    <p:sldId id="265" r:id="rId15"/>
    <p:sldId id="266" r:id="rId16"/>
    <p:sldId id="274" r:id="rId17"/>
    <p:sldId id="258"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3C5BE2F-351B-D50D-E9DB-F5C570A3F9E4}">
          <p14:sldIdLst>
            <p14:sldId id="256"/>
            <p14:sldId id="269"/>
            <p14:sldId id="270"/>
            <p14:sldId id="259"/>
            <p14:sldId id="267"/>
            <p14:sldId id="271"/>
            <p14:sldId id="272"/>
            <p14:sldId id="273"/>
            <p14:sldId id="257"/>
            <p14:sldId id="261"/>
            <p14:sldId id="262"/>
            <p14:sldId id="263"/>
            <p14:sldId id="264"/>
            <p14:sldId id="265"/>
            <p14:sldId id="266"/>
            <p14:sldId id="274"/>
            <p14:sldId id="258"/>
          </p14:sldIdLst>
        </p14:section>
        <p14:section name="Problem" id="{AE515615-B18E-FFC4-1DBD-366DD7B5B4C3}">
          <p14:sldIdLst/>
        </p14:section>
        <p14:section name="System" id="{34C2DB18-7EDA-CE2D-4410-A20BA3F1A20D}">
          <p14:sldIdLst/>
        </p14:section>
        <p14:section name="Our ideas" id="{817109E6-C0C1-9050-2AE5-58B502FC31A0}">
          <p14:sldIdLst/>
        </p14:section>
        <p14:section name="Results" id="{F67F6AEA-ADA6-0493-8D31-F5046E66BB0A}">
          <p14:sldIdLst/>
        </p14:section>
        <p14:section name="For the user" id="{373D56F6-D499-298E-A147-EA0F65ABAF83}">
          <p14:sldIdLst/>
        </p14:section>
        <p14:section name="Closing" id="{65D3BC61-C3F9-2EF3-C3C1-2206BA23472A}">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63" d="100"/>
          <a:sy n="163" d="100"/>
        </p:scale>
        <p:origin x="17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430"/>
                </a:solidFill>
                <a:latin typeface="+mn-lt"/>
              </a:defRPr>
            </a:pPr>
            <a:r>
              <a:rPr lang="en-IN" sz="1200" b="0" i="0" u="none" strike="noStrike">
                <a:solidFill>
                  <a:srgbClr val="1C2430"/>
                </a:solidFill>
                <a:latin typeface="+mn-lt"/>
              </a:rPr>
              <a:t>Macro-F1</a:t>
            </a:r>
          </a:p>
        </c:rich>
      </c:tx>
      <c:overlay val="0"/>
    </c:title>
    <c:autoTitleDeleted val="0"/>
    <c:plotArea>
      <c:layout/>
      <c:barChart>
        <c:barDir val="col"/>
        <c:grouping val="clustered"/>
        <c:varyColors val="0"/>
        <c:ser>
          <c:idx val="0"/>
          <c:order val="0"/>
          <c:tx>
            <c:strRef>
              <c:f>Sheet1!$B$1</c:f>
              <c:strCache>
                <c:ptCount val="1"/>
                <c:pt idx="0">
                  <c:v>Tested on the same day</c:v>
                </c:pt>
              </c:strCache>
            </c:strRef>
          </c:tx>
          <c:spPr>
            <a:solidFill>
              <a:srgbClr val="8D99A6"/>
            </a:solidFill>
            <a:effectLst/>
          </c:spPr>
          <c:invertIfNegative val="0"/>
          <c:dLbls>
            <c:numFmt formatCode="0.00" sourceLinked="0"/>
            <c:spPr>
              <a:noFill/>
              <a:ln>
                <a:noFill/>
              </a:ln>
              <a:effectLst/>
            </c:spPr>
            <c:txPr>
              <a:bodyPr/>
              <a:lstStyle/>
              <a:p>
                <a:pPr>
                  <a:defRPr sz="10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Sheet1!$B$2:$B$6</c:f>
              <c:numCache>
                <c:formatCode>General</c:formatCode>
                <c:ptCount val="5"/>
                <c:pt idx="0">
                  <c:v>0.88800000000000001</c:v>
                </c:pt>
                <c:pt idx="1">
                  <c:v>0.95099999999999996</c:v>
                </c:pt>
                <c:pt idx="2">
                  <c:v>0.98099999999999998</c:v>
                </c:pt>
                <c:pt idx="3">
                  <c:v>0.94599999999999995</c:v>
                </c:pt>
                <c:pt idx="4">
                  <c:v>0.97699999999999998</c:v>
                </c:pt>
              </c:numCache>
            </c:numRef>
          </c:val>
          <c:extLst>
            <c:ext xmlns:c16="http://schemas.microsoft.com/office/drawing/2014/chart" uri="{C3380CC4-5D6E-409C-BE32-E72D297353CC}">
              <c16:uniqueId val="{00000000-46C5-4819-84CF-E514246CB935}"/>
            </c:ext>
          </c:extLst>
        </c:ser>
        <c:ser>
          <c:idx val="1"/>
          <c:order val="1"/>
          <c:tx>
            <c:strRef>
              <c:f>Sheet1!$C$1</c:f>
              <c:strCache>
                <c:ptCount val="1"/>
                <c:pt idx="0">
                  <c:v>Tested on the next day</c:v>
                </c:pt>
              </c:strCache>
            </c:strRef>
          </c:tx>
          <c:spPr>
            <a:solidFill>
              <a:srgbClr val="D9796C"/>
            </a:solidFill>
            <a:effectLst/>
          </c:spPr>
          <c:invertIfNegative val="0"/>
          <c:dLbls>
            <c:numFmt formatCode="0.00" sourceLinked="0"/>
            <c:spPr>
              <a:noFill/>
              <a:ln>
                <a:noFill/>
              </a:ln>
              <a:effectLst/>
            </c:spPr>
            <c:txPr>
              <a:bodyPr/>
              <a:lstStyle/>
              <a:p>
                <a:pPr>
                  <a:defRPr sz="10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Sheet1!$C$2:$C$6</c:f>
              <c:numCache>
                <c:formatCode>General</c:formatCode>
                <c:ptCount val="5"/>
                <c:pt idx="0">
                  <c:v>0.45800000000000002</c:v>
                </c:pt>
                <c:pt idx="1">
                  <c:v>0.75700000000000001</c:v>
                </c:pt>
                <c:pt idx="2">
                  <c:v>0.96699999999999997</c:v>
                </c:pt>
                <c:pt idx="3">
                  <c:v>0.48499999999999999</c:v>
                </c:pt>
                <c:pt idx="4">
                  <c:v>0.68500000000000005</c:v>
                </c:pt>
              </c:numCache>
            </c:numRef>
          </c:val>
          <c:extLst>
            <c:ext xmlns:c16="http://schemas.microsoft.com/office/drawing/2014/chart" uri="{C3380CC4-5D6E-409C-BE32-E72D297353CC}">
              <c16:uniqueId val="{00000001-46C5-4819-84CF-E514246CB93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243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7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06E"/>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100">
              <a:solidFill>
                <a:srgbClr val="1C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430"/>
                </a:solidFill>
                <a:latin typeface="+mn-lt"/>
              </a:defRPr>
            </a:pPr>
            <a:r>
              <a:rPr lang="en-US" sz="1200" b="0" i="0" u="none" strike="noStrike">
                <a:solidFill>
                  <a:srgbClr val="1C2430"/>
                </a:solidFill>
                <a:latin typeface="+mn-lt"/>
              </a:rPr>
              <a:t>Macro-F1 on the Kafka replay</a:t>
            </a:r>
          </a:p>
        </c:rich>
      </c:tx>
      <c:overlay val="0"/>
    </c:title>
    <c:autoTitleDeleted val="0"/>
    <c:plotArea>
      <c:layout/>
      <c:barChart>
        <c:barDir val="col"/>
        <c:grouping val="clustered"/>
        <c:varyColors val="0"/>
        <c:ser>
          <c:idx val="0"/>
          <c:order val="0"/>
          <c:tx>
            <c:strRef>
              <c:f>Sheet1!$B$1</c:f>
              <c:strCache>
                <c:ptCount val="1"/>
                <c:pt idx="0">
                  <c:v>Model alone</c:v>
                </c:pt>
              </c:strCache>
            </c:strRef>
          </c:tx>
          <c:spPr>
            <a:solidFill>
              <a:srgbClr val="8D99A6"/>
            </a:solidFill>
            <a:effectLst/>
          </c:spPr>
          <c:invertIfNegative val="0"/>
          <c:dLbls>
            <c:numFmt formatCode="0.00" sourceLinked="0"/>
            <c:spPr>
              <a:noFill/>
              <a:ln>
                <a:noFill/>
              </a:ln>
              <a:effectLst/>
            </c:spPr>
            <c:txPr>
              <a:bodyPr/>
              <a:lstStyle/>
              <a:p>
                <a:pPr>
                  <a:defRPr sz="10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Sheet1!$B$2:$B$6</c:f>
              <c:numCache>
                <c:formatCode>General</c:formatCode>
                <c:ptCount val="5"/>
                <c:pt idx="0">
                  <c:v>0.45800000000000002</c:v>
                </c:pt>
                <c:pt idx="1">
                  <c:v>0.75600000000000001</c:v>
                </c:pt>
                <c:pt idx="2">
                  <c:v>0.96699999999999997</c:v>
                </c:pt>
                <c:pt idx="3">
                  <c:v>0.48499999999999999</c:v>
                </c:pt>
                <c:pt idx="4">
                  <c:v>0.68500000000000005</c:v>
                </c:pt>
              </c:numCache>
            </c:numRef>
          </c:val>
          <c:extLst>
            <c:ext xmlns:c16="http://schemas.microsoft.com/office/drawing/2014/chart" uri="{C3380CC4-5D6E-409C-BE32-E72D297353CC}">
              <c16:uniqueId val="{00000000-4194-4D92-9D7A-5F9E952F04C5}"/>
            </c:ext>
          </c:extLst>
        </c:ser>
        <c:ser>
          <c:idx val="1"/>
          <c:order val="1"/>
          <c:tx>
            <c:strRef>
              <c:f>Sheet1!$C$1</c:f>
              <c:strCache>
                <c:ptCount val="1"/>
                <c:pt idx="0">
                  <c:v>With the router</c:v>
                </c:pt>
              </c:strCache>
            </c:strRef>
          </c:tx>
          <c:spPr>
            <a:solidFill>
              <a:srgbClr val="D99A2B"/>
            </a:solidFill>
            <a:effectLst/>
          </c:spPr>
          <c:invertIfNegative val="0"/>
          <c:dLbls>
            <c:numFmt formatCode="0.00" sourceLinked="0"/>
            <c:spPr>
              <a:noFill/>
              <a:ln>
                <a:noFill/>
              </a:ln>
              <a:effectLst/>
            </c:spPr>
            <c:txPr>
              <a:bodyPr/>
              <a:lstStyle/>
              <a:p>
                <a:pPr>
                  <a:defRPr sz="10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Sheet1!$C$2:$C$6</c:f>
              <c:numCache>
                <c:formatCode>General</c:formatCode>
                <c:ptCount val="5"/>
                <c:pt idx="0">
                  <c:v>0.79800000000000004</c:v>
                </c:pt>
                <c:pt idx="1">
                  <c:v>0.95199999999999996</c:v>
                </c:pt>
                <c:pt idx="2">
                  <c:v>0.96699999999999997</c:v>
                </c:pt>
                <c:pt idx="3">
                  <c:v>0.95899999999999996</c:v>
                </c:pt>
                <c:pt idx="4">
                  <c:v>0.96699999999999997</c:v>
                </c:pt>
              </c:numCache>
            </c:numRef>
          </c:val>
          <c:extLst>
            <c:ext xmlns:c16="http://schemas.microsoft.com/office/drawing/2014/chart" uri="{C3380CC4-5D6E-409C-BE32-E72D297353CC}">
              <c16:uniqueId val="{00000001-4194-4D92-9D7A-5F9E952F04C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243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7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06E"/>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100">
              <a:solidFill>
                <a:srgbClr val="1C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430"/>
                </a:solidFill>
                <a:latin typeface="+mn-lt"/>
              </a:defRPr>
            </a:pPr>
            <a:r>
              <a:rPr lang="en-IN" sz="1200" b="0" i="0" u="none" strike="noStrike">
                <a:solidFill>
                  <a:srgbClr val="1C2430"/>
                </a:solidFill>
                <a:latin typeface="+mn-lt"/>
              </a:rPr>
              <a:t>Macro-F1, same 5,964,207 connections</a:t>
            </a:r>
          </a:p>
        </c:rich>
      </c:tx>
      <c:overlay val="0"/>
    </c:title>
    <c:autoTitleDeleted val="0"/>
    <c:plotArea>
      <c:layout/>
      <c:barChart>
        <c:barDir val="col"/>
        <c:grouping val="clustered"/>
        <c:varyColors val="0"/>
        <c:ser>
          <c:idx val="0"/>
          <c:order val="0"/>
          <c:tx>
            <c:strRef>
              <c:f>Sheet1!$B$1</c:f>
              <c:strCache>
                <c:ptCount val="1"/>
                <c:pt idx="0">
                  <c:v>Model alone</c:v>
                </c:pt>
              </c:strCache>
            </c:strRef>
          </c:tx>
          <c:spPr>
            <a:solidFill>
              <a:srgbClr val="8D99A6"/>
            </a:solidFill>
            <a:effectLst/>
          </c:spPr>
          <c:invertIfNegative val="0"/>
          <c:dLbls>
            <c:numFmt formatCode="0.00" sourceLinked="0"/>
            <c:spPr>
              <a:noFill/>
              <a:ln>
                <a:noFill/>
              </a:ln>
              <a:effectLst/>
            </c:spPr>
            <c:txPr>
              <a:bodyPr/>
              <a:lstStyle/>
              <a:p>
                <a:pPr>
                  <a:defRPr sz="9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Sheet1!$B$2:$B$6</c:f>
              <c:numCache>
                <c:formatCode>General</c:formatCode>
                <c:ptCount val="5"/>
                <c:pt idx="0">
                  <c:v>0.45800000000000002</c:v>
                </c:pt>
                <c:pt idx="1">
                  <c:v>0.75600000000000001</c:v>
                </c:pt>
                <c:pt idx="2">
                  <c:v>0.96699999999999997</c:v>
                </c:pt>
                <c:pt idx="3">
                  <c:v>0.48499999999999999</c:v>
                </c:pt>
                <c:pt idx="4">
                  <c:v>0.68500000000000005</c:v>
                </c:pt>
              </c:numCache>
            </c:numRef>
          </c:val>
          <c:extLst>
            <c:ext xmlns:c16="http://schemas.microsoft.com/office/drawing/2014/chart" uri="{C3380CC4-5D6E-409C-BE32-E72D297353CC}">
              <c16:uniqueId val="{00000000-D8B8-4C47-A74D-43DCD4C74422}"/>
            </c:ext>
          </c:extLst>
        </c:ser>
        <c:ser>
          <c:idx val="1"/>
          <c:order val="1"/>
          <c:tx>
            <c:strRef>
              <c:f>Sheet1!$C$1</c:f>
              <c:strCache>
                <c:ptCount val="1"/>
                <c:pt idx="0">
                  <c:v>+ router</c:v>
                </c:pt>
              </c:strCache>
            </c:strRef>
          </c:tx>
          <c:spPr>
            <a:solidFill>
              <a:srgbClr val="D99A2B"/>
            </a:solidFill>
            <a:effectLst/>
          </c:spPr>
          <c:invertIfNegative val="0"/>
          <c:dLbls>
            <c:numFmt formatCode="0.00" sourceLinked="0"/>
            <c:spPr>
              <a:noFill/>
              <a:ln>
                <a:noFill/>
              </a:ln>
              <a:effectLst/>
            </c:spPr>
            <c:txPr>
              <a:bodyPr/>
              <a:lstStyle/>
              <a:p>
                <a:pPr>
                  <a:defRPr sz="9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Sheet1!$C$2:$C$6</c:f>
              <c:numCache>
                <c:formatCode>General</c:formatCode>
                <c:ptCount val="5"/>
                <c:pt idx="0">
                  <c:v>0.79800000000000004</c:v>
                </c:pt>
                <c:pt idx="1">
                  <c:v>0.95199999999999996</c:v>
                </c:pt>
                <c:pt idx="2">
                  <c:v>0.96699999999999997</c:v>
                </c:pt>
                <c:pt idx="3">
                  <c:v>0.95899999999999996</c:v>
                </c:pt>
                <c:pt idx="4">
                  <c:v>0.96699999999999997</c:v>
                </c:pt>
              </c:numCache>
            </c:numRef>
          </c:val>
          <c:extLst>
            <c:ext xmlns:c16="http://schemas.microsoft.com/office/drawing/2014/chart" uri="{C3380CC4-5D6E-409C-BE32-E72D297353CC}">
              <c16:uniqueId val="{00000001-D8B8-4C47-A74D-43DCD4C74422}"/>
            </c:ext>
          </c:extLst>
        </c:ser>
        <c:ser>
          <c:idx val="2"/>
          <c:order val="2"/>
          <c:tx>
            <c:strRef>
              <c:f>Sheet1!$D$1</c:f>
              <c:strCache>
                <c:ptCount val="1"/>
                <c:pt idx="0">
                  <c:v>+ label copying</c:v>
                </c:pt>
              </c:strCache>
            </c:strRef>
          </c:tx>
          <c:spPr>
            <a:solidFill>
              <a:srgbClr val="2E8B7A"/>
            </a:solidFill>
            <a:effectLst/>
          </c:spPr>
          <c:invertIfNegative val="0"/>
          <c:dLbls>
            <c:numFmt formatCode="0.00" sourceLinked="0"/>
            <c:spPr>
              <a:noFill/>
              <a:ln>
                <a:noFill/>
              </a:ln>
              <a:effectLst/>
            </c:spPr>
            <c:txPr>
              <a:bodyPr/>
              <a:lstStyle/>
              <a:p>
                <a:pPr>
                  <a:defRPr sz="900" b="0" i="0" u="none" strike="noStrike">
                    <a:solidFill>
                      <a:srgbClr val="1C243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Logistic
regression</c:v>
                </c:pt>
                <c:pt idx="1">
                  <c:v>Decision
tree</c:v>
                </c:pt>
                <c:pt idx="2">
                  <c:v>Random
forest</c:v>
                </c:pt>
                <c:pt idx="3">
                  <c:v>Gradient-
boosted trees</c:v>
                </c:pt>
                <c:pt idx="4">
                  <c:v>Neural
network</c:v>
                </c:pt>
              </c:strCache>
            </c:strRef>
          </c:cat>
          <c:val>
            <c:numRef>
              <c:f>Sheet1!$D$2:$D$6</c:f>
              <c:numCache>
                <c:formatCode>General</c:formatCode>
                <c:ptCount val="5"/>
                <c:pt idx="0">
                  <c:v>0.80800000000000005</c:v>
                </c:pt>
                <c:pt idx="1">
                  <c:v>0.96599999999999997</c:v>
                </c:pt>
                <c:pt idx="2">
                  <c:v>0.98099999999999998</c:v>
                </c:pt>
                <c:pt idx="3">
                  <c:v>0.97299999999999998</c:v>
                </c:pt>
                <c:pt idx="4">
                  <c:v>0.98199999999999998</c:v>
                </c:pt>
              </c:numCache>
            </c:numRef>
          </c:val>
          <c:extLst>
            <c:ext xmlns:c16="http://schemas.microsoft.com/office/drawing/2014/chart" uri="{C3380CC4-5D6E-409C-BE32-E72D297353CC}">
              <c16:uniqueId val="{00000002-D8B8-4C47-A74D-43DCD4C74422}"/>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C2430"/>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3E7EC"/>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5606E"/>
                </a:solidFill>
                <a:latin typeface="+mn-lt"/>
              </a:defRPr>
            </a:pPr>
            <a:endParaRPr lang="en-US"/>
          </a:p>
        </c:txPr>
        <c:crossAx val="2094734554"/>
        <c:crosses val="autoZero"/>
        <c:crossBetween val="between"/>
        <c:majorUnit val="0.25"/>
      </c:valAx>
      <c:spPr>
        <a:noFill/>
        <a:ln>
          <a:noFill/>
        </a:ln>
        <a:effectLst/>
      </c:spPr>
    </c:plotArea>
    <c:legend>
      <c:legendPos val="t"/>
      <c:overlay val="0"/>
      <c:txPr>
        <a:bodyPr/>
        <a:lstStyle/>
        <a:p>
          <a:pPr>
            <a:defRPr sz="1100">
              <a:solidFill>
                <a:srgbClr val="1C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77977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detects DDoS attacks in network traffic using Hadoop, Spark and Kafka. The interesting part is not the detection itself, which is easy on this dataset, but what happens when the traffic changes from one day to the next. We will show the problem, the two ideas we built to fix it, and a website where a normal user can ask why an attack was flagged.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problem: a detector is trained once, but the traffic it judges keeps changing, and when it changes most models start missing attacks. Our objectives were to build the whole pipeline on HDFS, Spark and Kafka, test the models honestly on a later day, score day 2 live, stay accurate on new traffic without retraining, and explain each decision to the user. Why big data: the raw data is 51.2 gigabytes and 70.4 million rows, which is volume; it comes in two formats, CSV and nested JSON with missing values, which is variety; and day 2 is streamed through Kafka and scored live, 12,000 connections per tick, which is velocity.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dataset is CSE-CIC-DDoS2019 from the Canadian Institute for Cybersecurity. It has flow records produced by CICFlowMeter on two capture days. Day 1, in January, has 50 million flows and twelve attack types; we train on it. Day 2, in March, has about 20 million flows and seven attack types, and Portmap only appears there; we test on it. Benign traffic is under one percent. The models use 55 numeric features about packet sizes, rates, timing and flags. We removed IPs, ports and timestamps because they describe the lab, not the attack. One more property matters: 84 percent of day-1 flows are exact repeats, so we merge them before splitting, otherwise the test set would mostly be copies of training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runs on one laptop with Docker Compose: HDFS with three datanodes, Spark with one worker of six cores, Kafka, PostgreSQL and Grafana. Raw files go into HDFS. Spark batch jobs clean them, build features and train the models. Then day 2 is replayed into Kafka in time order, and a Spark streaming job scores it live. Results go to PostgreSQL, which feeds the Grafana dashboards and our website. The label topics at the bottom are the loop that label copying uses.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the Spark side. Spark runs in standalone mode with one worker that has 6 cores and 5 gigabytes of memory. It runs two executors of 3 cores and 2,500 megabytes each, and the driver gets 2 gigabytes. The laptop has 15 gigabytes and gives 11 to WSL, because HDFS, Kafka, PostgreSQL and Grafana need the rest. We lowered the shuffle partitions from Spark's default of 200 to 24, and to 6 for the live job, so each core gets a few full tasks instead of many tiny ones. The heavy cleaning and feature jobs use 96. Each live tick reads 12,000 connections in 6 partitions, one per core, and runs 16 or 17 jobs and about 115 tasks in roughly 2.4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how the Spark jobs work. Bronze has no shuffle: reading, renaming and union are narrow, so its 413 tasks each read one 128 megabyte split and write one file. Silver has the big shuffle, 7.31 gigabytes, because merging duplicate copies of a connection needs a groupBy on the connection key. Features shuffles 9 gigabytes to merge identical rows. We lowered the shuffle partitions from 200 to 24, and used 96 for those two heavy jobs so each task fits in memory. Training reads the same data hundreds of times, so it is cached in memory and disk. On the right is a real DAG from the Spark UI: the cached sample is read, each partition computes a partial result, and treeAggregate combines only those small sums in a second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code is organised by stage: common helpers, ingest jobs, training, the two ideas in the learn folder, and streaming. Everything builds into one jar with sbt, and each job is started with spark-submit and its class name. On the right are the three lines that matter most. The gate's limit is the 99th percentile of day-1 test distances, 5.60, computed by Spark and saved, not typed in. For unfamiliar traffic, if a labelled example is within that same distance we copy its label, otherwise the random forest answers. The live job reads Kafka 12,000 connections at a time, splits each tick into six partitions, one per core, and checkpoints each tick once so its sixteen actions do not recompute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ML pipeline: 55 features go through a StringIndexer and VectorAssembler, which are fitted on training data only and reused by the live job. Benign traffic is rare, so we weight each class to count equally, and we choose settings by benign F1. The random forest and boosted trees are tuned with a train-validation split; the forest chose depth 16 with 100 trees, and the boosted trees depth 6 with 40 rounds. We tune on a balanced sample because tuning trains the forest six times, then retrain each model once on all rows. Every model is tested twice: on a random split of the same days, and on a different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trained five standard models on day 1 of CIC-DDoS2019. The usual way people test is a random split of the same data, and there every model looks good: 0.89 to 0.98 macro-F1. But a real detector is trained once and then used on new traffic. So we trained on day 1 and tested on day 2. Four of the five models fell apart. Gradient-boosted trees dropped to 0.485 and missed 2.5 million attacks. Only the random forest held on, and it is the slowest model. That gap is what the whole project is about.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observation everything else is built on. We grouped day-1 traffic into 50 clusters with K-Means. For any connection we measure how far it is from the nearest cluster centre. If it is further than 99 percent of day-1 traffic, which is a distance of 5.60, we call it unfamiliar. On day 2, 22.6 percent of the traffic is unfamiliar, and that small part holds between 96 and 99.9 percent of every model's mistakes. On familiar traffic, all five models are almost never wrong. We also checked the usual alternative, the model's own confidence, and it only finds 4 percent of the decision tree's mistakes. The models are confidently wrong.</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idea follows directly from that finding. If the cheap models are only wrong on unfamiliar traffic, let them answer the familiar traffic, and send only the unfamiliar part to the strongest model, the random forest. Nothing is retrained. The router only decides who answers each connection. The chart shows what that does: the weak models jump close to the forest's level. Gradient-boosted trees go from 0.485 to 0.959. And the forest now only scores 22.5 percent of the traffic, so the whole stream is scored 1.41 times faster.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idea is about the traffic that still goes to the forest. A flood is extremely repetitive: millions of connections that look almost the same. So when an unfamiliar connection arrives, we first look for a labelled example that is very close to it, in the same cluster and within the same 5.60 distance. If there is one, we simply copy its label. If not, the forest answers straight away, and in parallel we ask for the true label through Kafka, so the next similar connection can be copied. In our replay the dataset's own label plays the analyst. With just 1,000 labels, which is 0.005 percent of day 2, the forest's share falls from 22.5 to 2.1 percent, and the score passes the forest itself.</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both ideas measured on the same 5,964,207 connections, replayed in time order, with labels only usable after they were asked for. Grey is each model alone, amber adds the router, green adds label copying. The router gives the big jump for the weak models. Label copying adds the last step for every model, including the forest, and halves the false alarms. On the right is the time: the forest on everything took 36.5 seconds, the router 25.8, and both ideas together 22.8, so 1.6 times faster. Over the whole day 2 run live through Kafka, the full system reached 0.97 to 0.98 for four of the five models.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part of our dashboard during a run. We picked gradient-boosted trees as the front model because it fails worst on its own. When the Syn flood starts, the grey line, the model alone, falls to about 0.3. The green line, the same model with the router, stays near 1 from the very first tick, because the flood is unfamiliar and goes straight to the forest and then to copied labels. Each tick is 12,000 connections from Kafka, split into 6 partitions for our 6 cores, and takes about 2.4 seconds, which is 16 or 17 Spark jobs and about 115 tasks.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teacher asked us to think about consumer use, so we built a small website called My Network. It shows the traffic replayed through Kafka, how each connection was answered, and a card for each attack. On the right is the assistant. It is a Gemma model running locally through Ollama, so no network data leaves the machine. With every question it gets the facts behind the page, including the features that moved the model's decision, read from the model's own decision path. So when you ask why the Syn flood was flagged, the answer comes from what the detector actually measured.</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hardest part was memory: everything shares 11 gigabytes, and the cleaning job had to shuffle and spill several gigabytes. The limitations are clear: one dataset captured in a lab, labels taken from the dataset instead of a real analyst, and one machine. Our conclusion: models trained on one day fail on the next, and nearly all their mistakes are in traffic that looks unfamiliar. Routing that traffic to the forest, and copying true labels to near-identical connections, improves every model without retraining and makes scoring 1.6 times faster over the day and 2.76 times during the flood. Next we would put a real analyst in the loop, run on several machines, adapt the limit online, and test on other datasets.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Each of these papers has a limitation that one part of our project answers. Awan and colleagues built DDoS detection on Spark with random forest and report 99.5 percent accuracy, but they test on one dataset with nothing from a later period. When we tested the same kind of models on a later day, four of five collapsed. That is why we built the router. TESSERACT showed that models decay over time, and its fixes are retraining or active learning; the authors themselves say full retraining is likely unrealistic because everything must be labelled. Our label copying needs 1,000 labels and no retraining. Transcend rejects predictions it does not trust, so those samples simply get no answer, and its method was expensive enough that the same group published a follow-up to cut the overhead. Our router never rejects; it sends that traffic to the forest, and the check is a cheap K-Means distance. CADE trains an extra neural network to measure distance and only flags drifting samples for an analyst. We use plain K-Means and answer that traffic in the same tick. We did not rerun their code, so these are the limitations of their design, not a head-to-head benchmark.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607040" cy="1463040"/>
          </a:xfrm>
          <a:prstGeom prst="rect">
            <a:avLst/>
          </a:prstGeom>
          <a:noFill/>
          <a:ln/>
        </p:spPr>
        <p:txBody>
          <a:bodyPr wrap="square" rtlCol="0"/>
          <a:lstStyle>
            <a:lvl1pPr marL="0" indent="0" algn="l">
              <a:buNone/>
              <a:defRPr lang="en-US" sz="4400" b="1" dirty="0">
                <a:solidFill>
                  <a:schemeClr val="bg1"/>
                </a:solidFill>
              </a:defRPr>
            </a:lvl1pPr>
          </a:lstStyle>
          <a:p>
            <a:pPr marL="0" indent="0" algn="l">
              <a:buNone/>
            </a:pPr>
            <a:endParaRPr lang="en-US" sz="4400" dirty="0"/>
          </a:p>
        </p:txBody>
      </p:sp>
      <p:sp>
        <p:nvSpPr>
          <p:cNvPr id="3" name="Text 0"/>
          <p:cNvSpPr>
            <a:spLocks noGrp="1"/>
          </p:cNvSpPr>
          <p:nvPr>
            <p:ph type="body" idx="101" hasCustomPrompt="1"/>
          </p:nvPr>
        </p:nvSpPr>
        <p:spPr>
          <a:xfrm>
            <a:off x="548640" y="3657600"/>
            <a:ext cx="10607040" cy="2377440"/>
          </a:xfrm>
          <a:prstGeom prst="rect">
            <a:avLst/>
          </a:prstGeom>
          <a:noFill/>
          <a:ln/>
        </p:spPr>
        <p:txBody>
          <a:bodyPr wrap="square" rtlCol="0"/>
          <a:lstStyle>
            <a:lvl1pPr marL="0" indent="0">
              <a:buNone/>
              <a:defRPr lang="en-US" sz="1800" dirty="0">
                <a:solidFill>
                  <a:srgbClr val="C9D2DA"/>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rtlCol="0"/>
          <a:lstStyle>
            <a:lvl1pPr marL="0" indent="0" algn="l">
              <a:buNone/>
              <a:defRPr lang="en-US" sz="3000" b="1" dirty="0">
                <a:solidFill>
                  <a:schemeClr val="tx1"/>
                </a:solidFill>
              </a:defRPr>
            </a:lvl1pPr>
          </a:lstStyle>
          <a:p>
            <a:pPr marL="0" indent="0" algn="l">
              <a:buNone/>
            </a:pPr>
            <a:endParaRPr lang="en-US" sz="3000" dirty="0"/>
          </a:p>
        </p:txBody>
      </p:sp>
      <p:sp>
        <p:nvSpPr>
          <p:cNvPr id="3"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5"/>
                </a:solidFill>
              </a:rPr>
              <a:t>DDoS detection with a familiarity router  ·  23AID302 Big Data Analytics</a:t>
            </a:r>
            <a:endParaRPr lang="en-US" sz="1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2011680"/>
            <a:ext cx="10607040" cy="1463040"/>
          </a:xfrm>
          <a:prstGeom prst="rect">
            <a:avLst/>
          </a:prstGeom>
          <a:noFill/>
          <a:ln/>
        </p:spPr>
        <p:txBody>
          <a:bodyPr wrap="square" lIns="0" tIns="0" rIns="0" bIns="0" rtlCol="0" anchor="b"/>
          <a:lstStyle/>
          <a:p>
            <a:pPr marL="0" indent="0" algn="l">
              <a:buNone/>
            </a:pPr>
            <a:r>
              <a:rPr lang="en-US" sz="4400" dirty="0"/>
              <a:t>Familiarity routing with label copying for efficient DDoS detection</a:t>
            </a:r>
          </a:p>
        </p:txBody>
      </p:sp>
      <p:sp>
        <p:nvSpPr>
          <p:cNvPr id="4" name="Text 0"/>
          <p:cNvSpPr>
            <a:spLocks noGrp="1"/>
          </p:cNvSpPr>
          <p:nvPr>
            <p:ph type="body" idx="101" hasCustomPrompt="1"/>
          </p:nvPr>
        </p:nvSpPr>
        <p:spPr>
          <a:xfrm>
            <a:off x="548640" y="3657600"/>
            <a:ext cx="10607040" cy="2377440"/>
          </a:xfrm>
          <a:prstGeom prst="rect">
            <a:avLst/>
          </a:prstGeom>
          <a:noFill/>
          <a:ln/>
        </p:spPr>
        <p:txBody>
          <a:bodyPr wrap="square" lIns="0" tIns="0" rIns="0" bIns="0" rtlCol="0" anchor="t"/>
          <a:lstStyle/>
          <a:p>
            <a:pPr marL="0" indent="0">
              <a:buNone/>
            </a:pPr>
            <a:r>
              <a:rPr lang="en-US" sz="1800" dirty="0">
                <a:solidFill>
                  <a:srgbClr val="C9D2DA"/>
                </a:solidFill>
              </a:rPr>
              <a:t>A familiarity router and label copying, running live on Hadoop, Spark and Kafka</a:t>
            </a:r>
          </a:p>
          <a:p>
            <a:pPr marL="0" indent="0">
              <a:buNone/>
            </a:pPr>
            <a:endParaRPr lang="en-US" dirty="0"/>
          </a:p>
          <a:p>
            <a:pPr marL="0" indent="0">
              <a:buNone/>
            </a:pPr>
            <a:r>
              <a:rPr lang="en-US" sz="1800" dirty="0"/>
              <a:t>Team No 17</a:t>
            </a:r>
          </a:p>
          <a:p>
            <a:pPr marL="0" indent="0">
              <a:buNone/>
            </a:pPr>
            <a:r>
              <a:rPr lang="en-US" dirty="0"/>
              <a:t>Nirmal A R – CB.AI.U4AID24001</a:t>
            </a:r>
          </a:p>
          <a:p>
            <a:pPr marL="0" indent="0">
              <a:buNone/>
            </a:pPr>
            <a:r>
              <a:rPr lang="en-US" sz="1800" dirty="0"/>
              <a:t>Dheeraj Kumar G – CB.AI.U4AID24017</a:t>
            </a:r>
          </a:p>
          <a:p>
            <a:pPr marL="0" indent="0">
              <a:buNone/>
            </a:pPr>
            <a:r>
              <a:rPr lang="en-US" dirty="0"/>
              <a:t>Meera S Raj – CB.AI.U4AID24031</a:t>
            </a:r>
          </a:p>
          <a:p>
            <a:pPr marL="0" indent="0">
              <a:buNone/>
            </a:pPr>
            <a:r>
              <a:rPr lang="en-US" sz="1800" dirty="0"/>
              <a:t>Vishnu Vardhan N – CB.AI.U4AID24072</a:t>
            </a:r>
          </a:p>
          <a:p>
            <a:pPr marL="0" indent="0">
              <a:buNone/>
            </a:pPr>
            <a:r>
              <a:rPr lang="en-US" sz="1800" dirty="0"/>
              <a:t>Faculty: </a:t>
            </a:r>
            <a:r>
              <a:rPr lang="en-US" dirty="0"/>
              <a:t>Dr Sreeja B P</a:t>
            </a:r>
            <a:endParaRPr lang="en-US" sz="1800" dirty="0"/>
          </a:p>
        </p:txBody>
      </p:sp>
      <p:sp>
        <p:nvSpPr>
          <p:cNvPr id="5" name="Text 2"/>
          <p:cNvSpPr txBox="1"/>
          <p:nvPr/>
        </p:nvSpPr>
        <p:spPr>
          <a:xfrm>
            <a:off x="454856" y="1895622"/>
            <a:ext cx="7315200" cy="365760"/>
          </a:xfrm>
          <a:prstGeom prst="rect">
            <a:avLst/>
          </a:prstGeom>
          <a:noFill/>
          <a:ln/>
        </p:spPr>
        <p:txBody>
          <a:bodyPr wrap="square" lIns="0" tIns="0" rIns="0" bIns="0" rtlCol="0" anchor="t"/>
          <a:lstStyle/>
          <a:p>
            <a:pPr marL="0" indent="0">
              <a:buNone/>
            </a:pPr>
            <a:r>
              <a:rPr lang="en-US" sz="1400" dirty="0">
                <a:solidFill>
                  <a:srgbClr val="8D99A6"/>
                </a:solidFill>
              </a:rPr>
              <a:t>23AID302 Big Data Analytics  ·  Team project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Problem, objectives and why big data</a:t>
            </a:r>
            <a:endParaRPr lang="en-US" sz="30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
        <p:nvSpPr>
          <p:cNvPr id="3" name="TextBox 2">
            <a:extLst>
              <a:ext uri="{FF2B5EF4-FFF2-40B4-BE49-F238E27FC236}">
                <a16:creationId xmlns:a16="http://schemas.microsoft.com/office/drawing/2014/main" id="{FF8D2E8B-E885-F46C-C0FB-CC1A9D27D033}"/>
              </a:ext>
            </a:extLst>
          </p:cNvPr>
          <p:cNvSpPr txBox="1"/>
          <p:nvPr/>
        </p:nvSpPr>
        <p:spPr>
          <a:xfrm>
            <a:off x="548640" y="1463040"/>
            <a:ext cx="4937760" cy="276999"/>
          </a:xfrm>
          <a:prstGeom prst="rect">
            <a:avLst/>
          </a:prstGeom>
          <a:noFill/>
        </p:spPr>
        <p:txBody>
          <a:bodyPr vert="horz" wrap="square" lIns="0" tIns="0" rIns="0" bIns="0" rtlCol="0">
            <a:noAutofit/>
          </a:bodyPr>
          <a:lstStyle/>
          <a:p>
            <a:r>
              <a:rPr lang="en-US" sz="2000" dirty="0">
                <a:solidFill>
                  <a:srgbClr val="1C2430"/>
                </a:solidFill>
                <a:latin typeface="Cambria" panose="02040503050406030204" pitchFamily="18" charset="0"/>
              </a:rPr>
              <a:t>A DDoS detector is trained once, but the traffic it has to judge keeps changing. When it does, most models start missing attacks, and the usual fixes are too slow for a live attack.</a:t>
            </a:r>
            <a:endParaRPr lang="en-IN" sz="2000" dirty="0">
              <a:solidFill>
                <a:srgbClr val="1C2430"/>
              </a:solidFill>
              <a:latin typeface="Cambria" panose="02040503050406030204" pitchFamily="18" charset="0"/>
            </a:endParaRPr>
          </a:p>
        </p:txBody>
      </p:sp>
      <p:sp>
        <p:nvSpPr>
          <p:cNvPr id="6" name="TextBox 5">
            <a:extLst>
              <a:ext uri="{FF2B5EF4-FFF2-40B4-BE49-F238E27FC236}">
                <a16:creationId xmlns:a16="http://schemas.microsoft.com/office/drawing/2014/main" id="{F7F3B841-870C-51CF-0531-4579E4A33B59}"/>
              </a:ext>
            </a:extLst>
          </p:cNvPr>
          <p:cNvSpPr txBox="1"/>
          <p:nvPr/>
        </p:nvSpPr>
        <p:spPr>
          <a:xfrm>
            <a:off x="548640" y="3429000"/>
            <a:ext cx="4937760" cy="276999"/>
          </a:xfrm>
          <a:prstGeom prst="rect">
            <a:avLst/>
          </a:prstGeom>
          <a:noFill/>
        </p:spPr>
        <p:txBody>
          <a:bodyPr vert="horz" wrap="square" lIns="0" tIns="0" rIns="0" bIns="0" rtlCol="0">
            <a:noAutofit/>
          </a:bodyPr>
          <a:lstStyle/>
          <a:p>
            <a:r>
              <a:rPr lang="en-IN" sz="1600" b="1">
                <a:solidFill>
                  <a:srgbClr val="2E8B7A"/>
                </a:solidFill>
                <a:latin typeface="Calibri" panose="020F0502020204030204" pitchFamily="34" charset="0"/>
              </a:rPr>
              <a:t>Objectives</a:t>
            </a:r>
          </a:p>
        </p:txBody>
      </p:sp>
      <p:sp>
        <p:nvSpPr>
          <p:cNvPr id="7" name="TextBox 6">
            <a:extLst>
              <a:ext uri="{FF2B5EF4-FFF2-40B4-BE49-F238E27FC236}">
                <a16:creationId xmlns:a16="http://schemas.microsoft.com/office/drawing/2014/main" id="{633FBB35-AFD0-A45C-ADAA-7FCF2649EDD7}"/>
              </a:ext>
            </a:extLst>
          </p:cNvPr>
          <p:cNvSpPr txBox="1"/>
          <p:nvPr/>
        </p:nvSpPr>
        <p:spPr>
          <a:xfrm>
            <a:off x="548640" y="3794759"/>
            <a:ext cx="4937760" cy="2377440"/>
          </a:xfrm>
          <a:prstGeom prst="rect">
            <a:avLst/>
          </a:prstGeom>
          <a:noFill/>
        </p:spPr>
        <p:txBody>
          <a:bodyPr vert="horz" wrap="square" lIns="0" tIns="0" rIns="0" bIns="0" rtlCol="0">
            <a:noAutofit/>
          </a:bodyPr>
          <a:lstStyle/>
          <a:p>
            <a:pPr marL="177800" indent="-177800">
              <a:spcAft>
                <a:spcPts val="300"/>
              </a:spcAft>
              <a:buFont typeface="+mj-lt"/>
              <a:buChar char="•"/>
            </a:pPr>
            <a:r>
              <a:rPr lang="en-US" sz="1300" dirty="0">
                <a:solidFill>
                  <a:srgbClr val="1C2430"/>
                </a:solidFill>
                <a:latin typeface="Calibri" panose="020F0502020204030204" pitchFamily="34" charset="0"/>
              </a:rPr>
              <a:t>Build the full pipeline on HDFS, Spark and Kafka</a:t>
            </a:r>
          </a:p>
          <a:p>
            <a:pPr marL="177800" indent="-177800">
              <a:spcAft>
                <a:spcPts val="300"/>
              </a:spcAft>
              <a:buFont typeface="+mj-lt"/>
              <a:buChar char="•"/>
            </a:pPr>
            <a:r>
              <a:rPr lang="en-US" sz="1300" dirty="0">
                <a:solidFill>
                  <a:srgbClr val="1C2430"/>
                </a:solidFill>
                <a:latin typeface="Calibri" panose="020F0502020204030204" pitchFamily="34" charset="0"/>
              </a:rPr>
              <a:t>Test the models on a later day, not only a random split</a:t>
            </a:r>
          </a:p>
          <a:p>
            <a:pPr marL="177800" indent="-177800">
              <a:spcAft>
                <a:spcPts val="300"/>
              </a:spcAft>
              <a:buFont typeface="+mj-lt"/>
              <a:buChar char="•"/>
            </a:pPr>
            <a:r>
              <a:rPr lang="en-US" sz="1300" dirty="0">
                <a:solidFill>
                  <a:srgbClr val="1C2430"/>
                </a:solidFill>
                <a:latin typeface="Calibri" panose="020F0502020204030204" pitchFamily="34" charset="0"/>
              </a:rPr>
              <a:t>Score day 2 live and show it on Grafana</a:t>
            </a:r>
          </a:p>
          <a:p>
            <a:pPr marL="177800" indent="-177800">
              <a:spcAft>
                <a:spcPts val="300"/>
              </a:spcAft>
              <a:buFont typeface="+mj-lt"/>
              <a:buChar char="•"/>
            </a:pPr>
            <a:r>
              <a:rPr lang="en-US" sz="1300" dirty="0">
                <a:solidFill>
                  <a:srgbClr val="1C2430"/>
                </a:solidFill>
                <a:latin typeface="Calibri" panose="020F0502020204030204" pitchFamily="34" charset="0"/>
              </a:rPr>
              <a:t>Stay accurate on new traffic without retraining, with less work per connection</a:t>
            </a:r>
          </a:p>
          <a:p>
            <a:pPr marL="177800" indent="-177800">
              <a:spcAft>
                <a:spcPts val="300"/>
              </a:spcAft>
              <a:buFont typeface="+mj-lt"/>
              <a:buChar char="•"/>
            </a:pPr>
            <a:r>
              <a:rPr lang="en-US" sz="1300" dirty="0">
                <a:solidFill>
                  <a:srgbClr val="1C2430"/>
                </a:solidFill>
                <a:latin typeface="Calibri" panose="020F0502020204030204" pitchFamily="34" charset="0"/>
              </a:rPr>
              <a:t>Explain each decision on a simple website</a:t>
            </a:r>
            <a:endParaRPr lang="en-IN" sz="1300" dirty="0">
              <a:solidFill>
                <a:srgbClr val="1C2430"/>
              </a:solidFill>
              <a:latin typeface="Calibri" panose="020F0502020204030204" pitchFamily="34" charset="0"/>
            </a:endParaRPr>
          </a:p>
        </p:txBody>
      </p:sp>
      <p:sp>
        <p:nvSpPr>
          <p:cNvPr id="8" name="Rectangle: Rounded Corners 7">
            <a:extLst>
              <a:ext uri="{FF2B5EF4-FFF2-40B4-BE49-F238E27FC236}">
                <a16:creationId xmlns:a16="http://schemas.microsoft.com/office/drawing/2014/main" id="{AC0DEDA3-7A63-EC30-4EF3-6DDA488A40C5}"/>
              </a:ext>
            </a:extLst>
          </p:cNvPr>
          <p:cNvSpPr/>
          <p:nvPr/>
        </p:nvSpPr>
        <p:spPr>
          <a:xfrm>
            <a:off x="6035040" y="1417320"/>
            <a:ext cx="5605272" cy="141732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FA75D812-95F7-673B-BDCD-B8719AFE6736}"/>
              </a:ext>
            </a:extLst>
          </p:cNvPr>
          <p:cNvSpPr txBox="1"/>
          <p:nvPr/>
        </p:nvSpPr>
        <p:spPr>
          <a:xfrm>
            <a:off x="6263640" y="1618488"/>
            <a:ext cx="2011680" cy="276999"/>
          </a:xfrm>
          <a:prstGeom prst="rect">
            <a:avLst/>
          </a:prstGeom>
          <a:noFill/>
        </p:spPr>
        <p:txBody>
          <a:bodyPr vert="horz" wrap="square" lIns="0" tIns="0" rIns="0" bIns="0" rtlCol="0">
            <a:noAutofit/>
          </a:bodyPr>
          <a:lstStyle/>
          <a:p>
            <a:r>
              <a:rPr lang="en-IN" sz="2400" b="1">
                <a:solidFill>
                  <a:srgbClr val="D9796C"/>
                </a:solidFill>
                <a:latin typeface="Cambria" panose="02040503050406030204" pitchFamily="18" charset="0"/>
              </a:rPr>
              <a:t>51.2 GB</a:t>
            </a:r>
          </a:p>
        </p:txBody>
      </p:sp>
      <p:sp>
        <p:nvSpPr>
          <p:cNvPr id="10" name="TextBox 9">
            <a:extLst>
              <a:ext uri="{FF2B5EF4-FFF2-40B4-BE49-F238E27FC236}">
                <a16:creationId xmlns:a16="http://schemas.microsoft.com/office/drawing/2014/main" id="{287D2929-9237-771F-9DDD-39B3BA6AD6DD}"/>
              </a:ext>
            </a:extLst>
          </p:cNvPr>
          <p:cNvSpPr txBox="1"/>
          <p:nvPr/>
        </p:nvSpPr>
        <p:spPr>
          <a:xfrm>
            <a:off x="8412480" y="1600200"/>
            <a:ext cx="3063240" cy="276999"/>
          </a:xfrm>
          <a:prstGeom prst="rect">
            <a:avLst/>
          </a:prstGeom>
          <a:noFill/>
        </p:spPr>
        <p:txBody>
          <a:bodyPr vert="horz" wrap="square" lIns="0" tIns="0" rIns="0" bIns="0" rtlCol="0">
            <a:noAutofit/>
          </a:bodyPr>
          <a:lstStyle/>
          <a:p>
            <a:r>
              <a:rPr lang="en-IN" sz="1500" b="1">
                <a:solidFill>
                  <a:srgbClr val="1C2430"/>
                </a:solidFill>
                <a:latin typeface="Calibri" panose="020F0502020204030204" pitchFamily="34" charset="0"/>
              </a:rPr>
              <a:t>Volume</a:t>
            </a:r>
          </a:p>
        </p:txBody>
      </p:sp>
      <p:sp>
        <p:nvSpPr>
          <p:cNvPr id="11" name="TextBox 10">
            <a:extLst>
              <a:ext uri="{FF2B5EF4-FFF2-40B4-BE49-F238E27FC236}">
                <a16:creationId xmlns:a16="http://schemas.microsoft.com/office/drawing/2014/main" id="{52925221-1277-2D7C-DF1B-EC15439AB47B}"/>
              </a:ext>
            </a:extLst>
          </p:cNvPr>
          <p:cNvSpPr txBox="1"/>
          <p:nvPr/>
        </p:nvSpPr>
        <p:spPr>
          <a:xfrm>
            <a:off x="8412480" y="1947672"/>
            <a:ext cx="3063240" cy="276999"/>
          </a:xfrm>
          <a:prstGeom prst="rect">
            <a:avLst/>
          </a:prstGeom>
          <a:noFill/>
        </p:spPr>
        <p:txBody>
          <a:bodyPr vert="horz" wrap="square" lIns="0" tIns="0" rIns="0" bIns="0" rtlCol="0">
            <a:noAutofit/>
          </a:bodyPr>
          <a:lstStyle/>
          <a:p>
            <a:r>
              <a:rPr lang="en-US" sz="1200">
                <a:solidFill>
                  <a:srgbClr val="55606E"/>
                </a:solidFill>
                <a:latin typeface="Calibri" panose="020F0502020204030204" pitchFamily="34" charset="0"/>
              </a:rPr>
              <a:t>70.4 million flow records in 18 files, more than one process can hold on a 15 GB laptop</a:t>
            </a:r>
            <a:endParaRPr lang="en-IN" sz="1200">
              <a:solidFill>
                <a:srgbClr val="55606E"/>
              </a:solidFill>
              <a:latin typeface="Calibri" panose="020F0502020204030204" pitchFamily="34" charset="0"/>
            </a:endParaRPr>
          </a:p>
        </p:txBody>
      </p:sp>
      <p:sp>
        <p:nvSpPr>
          <p:cNvPr id="12" name="Rectangle: Rounded Corners 11">
            <a:extLst>
              <a:ext uri="{FF2B5EF4-FFF2-40B4-BE49-F238E27FC236}">
                <a16:creationId xmlns:a16="http://schemas.microsoft.com/office/drawing/2014/main" id="{8C1EAD03-3171-A550-5647-336A4EF56843}"/>
              </a:ext>
            </a:extLst>
          </p:cNvPr>
          <p:cNvSpPr/>
          <p:nvPr/>
        </p:nvSpPr>
        <p:spPr>
          <a:xfrm>
            <a:off x="6035040" y="3017520"/>
            <a:ext cx="5605272" cy="141732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23DD48C9-ECF4-5093-A364-5E9ABD99853A}"/>
              </a:ext>
            </a:extLst>
          </p:cNvPr>
          <p:cNvSpPr txBox="1"/>
          <p:nvPr/>
        </p:nvSpPr>
        <p:spPr>
          <a:xfrm>
            <a:off x="6263640" y="3218688"/>
            <a:ext cx="2011680" cy="276999"/>
          </a:xfrm>
          <a:prstGeom prst="rect">
            <a:avLst/>
          </a:prstGeom>
          <a:noFill/>
        </p:spPr>
        <p:txBody>
          <a:bodyPr vert="horz" wrap="square" lIns="0" tIns="0" rIns="0" bIns="0" rtlCol="0">
            <a:noAutofit/>
          </a:bodyPr>
          <a:lstStyle/>
          <a:p>
            <a:r>
              <a:rPr lang="en-IN" sz="2400" b="1">
                <a:solidFill>
                  <a:srgbClr val="D9796C"/>
                </a:solidFill>
                <a:latin typeface="Cambria" panose="02040503050406030204" pitchFamily="18" charset="0"/>
              </a:rPr>
              <a:t>CSV + JSON</a:t>
            </a:r>
          </a:p>
        </p:txBody>
      </p:sp>
      <p:sp>
        <p:nvSpPr>
          <p:cNvPr id="14" name="TextBox 13">
            <a:extLst>
              <a:ext uri="{FF2B5EF4-FFF2-40B4-BE49-F238E27FC236}">
                <a16:creationId xmlns:a16="http://schemas.microsoft.com/office/drawing/2014/main" id="{D4AA0B4D-F44C-E146-9DB0-8696D76AD69C}"/>
              </a:ext>
            </a:extLst>
          </p:cNvPr>
          <p:cNvSpPr txBox="1"/>
          <p:nvPr/>
        </p:nvSpPr>
        <p:spPr>
          <a:xfrm>
            <a:off x="8412480" y="3200400"/>
            <a:ext cx="3063240" cy="276999"/>
          </a:xfrm>
          <a:prstGeom prst="rect">
            <a:avLst/>
          </a:prstGeom>
          <a:noFill/>
        </p:spPr>
        <p:txBody>
          <a:bodyPr vert="horz" wrap="square" lIns="0" tIns="0" rIns="0" bIns="0" rtlCol="0">
            <a:noAutofit/>
          </a:bodyPr>
          <a:lstStyle/>
          <a:p>
            <a:r>
              <a:rPr lang="en-US" sz="1500" b="1">
                <a:solidFill>
                  <a:srgbClr val="1C2430"/>
                </a:solidFill>
                <a:latin typeface="Calibri" panose="020F0502020204030204" pitchFamily="34" charset="0"/>
              </a:rPr>
              <a:t>Variety</a:t>
            </a:r>
            <a:endParaRPr lang="en-IN" sz="1500" b="1">
              <a:solidFill>
                <a:srgbClr val="1C2430"/>
              </a:solidFill>
              <a:latin typeface="Calibri" panose="020F0502020204030204" pitchFamily="34" charset="0"/>
            </a:endParaRPr>
          </a:p>
        </p:txBody>
      </p:sp>
      <p:sp>
        <p:nvSpPr>
          <p:cNvPr id="15" name="TextBox 14">
            <a:extLst>
              <a:ext uri="{FF2B5EF4-FFF2-40B4-BE49-F238E27FC236}">
                <a16:creationId xmlns:a16="http://schemas.microsoft.com/office/drawing/2014/main" id="{CB848B90-33B1-C9EB-26EF-1ABEF96B87A5}"/>
              </a:ext>
            </a:extLst>
          </p:cNvPr>
          <p:cNvSpPr txBox="1"/>
          <p:nvPr/>
        </p:nvSpPr>
        <p:spPr>
          <a:xfrm>
            <a:off x="8412480" y="3547872"/>
            <a:ext cx="3063240" cy="276999"/>
          </a:xfrm>
          <a:prstGeom prst="rect">
            <a:avLst/>
          </a:prstGeom>
          <a:noFill/>
        </p:spPr>
        <p:txBody>
          <a:bodyPr vert="horz" wrap="square" lIns="0" tIns="0" rIns="0" bIns="0" rtlCol="0">
            <a:noAutofit/>
          </a:bodyPr>
          <a:lstStyle/>
          <a:p>
            <a:r>
              <a:rPr lang="en-US" sz="1200">
                <a:solidFill>
                  <a:srgbClr val="55606E"/>
                </a:solidFill>
                <a:latin typeface="Calibri" panose="020F0502020204030204" pitchFamily="34" charset="0"/>
              </a:rPr>
              <a:t>Day 1 is flat CSV, day 2 is nested JSON with missing values; both map to one 86-field schema</a:t>
            </a:r>
            <a:endParaRPr lang="en-IN" sz="1200">
              <a:solidFill>
                <a:srgbClr val="55606E"/>
              </a:solidFill>
              <a:latin typeface="Calibri" panose="020F0502020204030204" pitchFamily="34" charset="0"/>
            </a:endParaRPr>
          </a:p>
        </p:txBody>
      </p:sp>
      <p:sp>
        <p:nvSpPr>
          <p:cNvPr id="16" name="Rectangle: Rounded Corners 15">
            <a:extLst>
              <a:ext uri="{FF2B5EF4-FFF2-40B4-BE49-F238E27FC236}">
                <a16:creationId xmlns:a16="http://schemas.microsoft.com/office/drawing/2014/main" id="{E7ED69AA-1A9B-3216-395A-4DB786BC9ADA}"/>
              </a:ext>
            </a:extLst>
          </p:cNvPr>
          <p:cNvSpPr/>
          <p:nvPr/>
        </p:nvSpPr>
        <p:spPr>
          <a:xfrm>
            <a:off x="6035040" y="4617720"/>
            <a:ext cx="5605272" cy="141732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386B113B-B3AD-3910-B024-E398FDAD48DB}"/>
              </a:ext>
            </a:extLst>
          </p:cNvPr>
          <p:cNvSpPr txBox="1"/>
          <p:nvPr/>
        </p:nvSpPr>
        <p:spPr>
          <a:xfrm>
            <a:off x="6263640" y="4818888"/>
            <a:ext cx="2011680" cy="276999"/>
          </a:xfrm>
          <a:prstGeom prst="rect">
            <a:avLst/>
          </a:prstGeom>
          <a:noFill/>
        </p:spPr>
        <p:txBody>
          <a:bodyPr vert="horz" wrap="square" lIns="0" tIns="0" rIns="0" bIns="0" rtlCol="0">
            <a:noAutofit/>
          </a:bodyPr>
          <a:lstStyle/>
          <a:p>
            <a:r>
              <a:rPr lang="en-IN" sz="2400" b="1">
                <a:solidFill>
                  <a:srgbClr val="D9796C"/>
                </a:solidFill>
                <a:latin typeface="Cambria" panose="02040503050406030204" pitchFamily="18" charset="0"/>
              </a:rPr>
              <a:t>12,000 / tick</a:t>
            </a:r>
          </a:p>
        </p:txBody>
      </p:sp>
      <p:sp>
        <p:nvSpPr>
          <p:cNvPr id="18" name="TextBox 17">
            <a:extLst>
              <a:ext uri="{FF2B5EF4-FFF2-40B4-BE49-F238E27FC236}">
                <a16:creationId xmlns:a16="http://schemas.microsoft.com/office/drawing/2014/main" id="{41A77AC0-EEF1-438D-5B78-3141ECC05FAE}"/>
              </a:ext>
            </a:extLst>
          </p:cNvPr>
          <p:cNvSpPr txBox="1"/>
          <p:nvPr/>
        </p:nvSpPr>
        <p:spPr>
          <a:xfrm>
            <a:off x="8412480" y="4800600"/>
            <a:ext cx="3063240" cy="276999"/>
          </a:xfrm>
          <a:prstGeom prst="rect">
            <a:avLst/>
          </a:prstGeom>
          <a:noFill/>
        </p:spPr>
        <p:txBody>
          <a:bodyPr vert="horz" wrap="square" lIns="0" tIns="0" rIns="0" bIns="0" rtlCol="0">
            <a:noAutofit/>
          </a:bodyPr>
          <a:lstStyle/>
          <a:p>
            <a:r>
              <a:rPr lang="en-IN" sz="1500" b="1">
                <a:solidFill>
                  <a:srgbClr val="1C2430"/>
                </a:solidFill>
                <a:latin typeface="Calibri" panose="020F0502020204030204" pitchFamily="34" charset="0"/>
              </a:rPr>
              <a:t>Velocity</a:t>
            </a:r>
          </a:p>
        </p:txBody>
      </p:sp>
      <p:sp>
        <p:nvSpPr>
          <p:cNvPr id="19" name="TextBox 18">
            <a:extLst>
              <a:ext uri="{FF2B5EF4-FFF2-40B4-BE49-F238E27FC236}">
                <a16:creationId xmlns:a16="http://schemas.microsoft.com/office/drawing/2014/main" id="{05F5F914-7D32-C03F-989F-D5F518153782}"/>
              </a:ext>
            </a:extLst>
          </p:cNvPr>
          <p:cNvSpPr txBox="1"/>
          <p:nvPr/>
        </p:nvSpPr>
        <p:spPr>
          <a:xfrm>
            <a:off x="8412480" y="5148072"/>
            <a:ext cx="3063240" cy="276999"/>
          </a:xfrm>
          <a:prstGeom prst="rect">
            <a:avLst/>
          </a:prstGeom>
          <a:noFill/>
        </p:spPr>
        <p:txBody>
          <a:bodyPr vert="horz" wrap="square" lIns="0" tIns="0" rIns="0" bIns="0" rtlCol="0">
            <a:noAutofit/>
          </a:bodyPr>
          <a:lstStyle/>
          <a:p>
            <a:r>
              <a:rPr lang="en-US" sz="1200">
                <a:solidFill>
                  <a:srgbClr val="55606E"/>
                </a:solidFill>
                <a:latin typeface="Calibri" panose="020F0502020204030204" pitchFamily="34" charset="0"/>
              </a:rPr>
              <a:t>Day 2 is streamed through Kafka in time order and scored live, about 2.4 s per tick</a:t>
            </a:r>
            <a:endParaRPr lang="en-IN" sz="1200">
              <a:solidFill>
                <a:srgbClr val="55606E"/>
              </a:solidFill>
              <a:latin typeface="Calibri" panose="020F0502020204030204" pitchFamily="34" charset="0"/>
            </a:endParaRPr>
          </a:p>
        </p:txBody>
      </p:sp>
    </p:spTree>
    <p:extLst>
      <p:ext uri="{BB962C8B-B14F-4D97-AF65-F5344CB8AC3E}">
        <p14:creationId xmlns:p14="http://schemas.microsoft.com/office/powerpoint/2010/main" val="1709782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Dataset: CSE-CIC-DDoS2019</a:t>
            </a:r>
            <a:endParaRPr lang="en-US" sz="30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
        <p:nvSpPr>
          <p:cNvPr id="4" name="Rectangle: Rounded Corners 3">
            <a:extLst>
              <a:ext uri="{FF2B5EF4-FFF2-40B4-BE49-F238E27FC236}">
                <a16:creationId xmlns:a16="http://schemas.microsoft.com/office/drawing/2014/main" id="{7E6796E5-F9A6-0465-E884-9D96D9189870}"/>
              </a:ext>
            </a:extLst>
          </p:cNvPr>
          <p:cNvSpPr/>
          <p:nvPr/>
        </p:nvSpPr>
        <p:spPr>
          <a:xfrm>
            <a:off x="548640" y="1325880"/>
            <a:ext cx="2651760" cy="114300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D87F194B-A4E4-614C-46DF-A6056B63121C}"/>
              </a:ext>
            </a:extLst>
          </p:cNvPr>
          <p:cNvSpPr txBox="1"/>
          <p:nvPr/>
        </p:nvSpPr>
        <p:spPr>
          <a:xfrm>
            <a:off x="749808" y="1463040"/>
            <a:ext cx="2286000" cy="276999"/>
          </a:xfrm>
          <a:prstGeom prst="rect">
            <a:avLst/>
          </a:prstGeom>
          <a:noFill/>
        </p:spPr>
        <p:txBody>
          <a:bodyPr vert="horz" wrap="square" lIns="0" tIns="0" rIns="0" bIns="0" rtlCol="0">
            <a:noAutofit/>
          </a:bodyPr>
          <a:lstStyle/>
          <a:p>
            <a:r>
              <a:rPr lang="en-IN" sz="2800" b="1">
                <a:solidFill>
                  <a:srgbClr val="2E8B7A"/>
                </a:solidFill>
                <a:latin typeface="Cambria" panose="02040503050406030204" pitchFamily="18" charset="0"/>
              </a:rPr>
              <a:t>51.2 GB</a:t>
            </a:r>
          </a:p>
        </p:txBody>
      </p:sp>
      <p:sp>
        <p:nvSpPr>
          <p:cNvPr id="6" name="TextBox 5">
            <a:extLst>
              <a:ext uri="{FF2B5EF4-FFF2-40B4-BE49-F238E27FC236}">
                <a16:creationId xmlns:a16="http://schemas.microsoft.com/office/drawing/2014/main" id="{352120AC-CEE8-C894-B099-830B85870D6F}"/>
              </a:ext>
            </a:extLst>
          </p:cNvPr>
          <p:cNvSpPr txBox="1"/>
          <p:nvPr/>
        </p:nvSpPr>
        <p:spPr>
          <a:xfrm>
            <a:off x="749808" y="2011680"/>
            <a:ext cx="2286000" cy="276999"/>
          </a:xfrm>
          <a:prstGeom prst="rect">
            <a:avLst/>
          </a:prstGeom>
          <a:noFill/>
        </p:spPr>
        <p:txBody>
          <a:bodyPr vert="horz" wrap="square" lIns="0" tIns="0" rIns="0" bIns="0" rtlCol="0">
            <a:noAutofit/>
          </a:bodyPr>
          <a:lstStyle/>
          <a:p>
            <a:r>
              <a:rPr lang="en-IN" sz="1300">
                <a:solidFill>
                  <a:srgbClr val="1C2430"/>
                </a:solidFill>
                <a:latin typeface="Calibri" panose="020F0502020204030204" pitchFamily="34" charset="0"/>
              </a:rPr>
              <a:t>raw CSV and JSON</a:t>
            </a:r>
          </a:p>
        </p:txBody>
      </p:sp>
      <p:sp>
        <p:nvSpPr>
          <p:cNvPr id="7" name="Rectangle: Rounded Corners 6">
            <a:extLst>
              <a:ext uri="{FF2B5EF4-FFF2-40B4-BE49-F238E27FC236}">
                <a16:creationId xmlns:a16="http://schemas.microsoft.com/office/drawing/2014/main" id="{F213E35F-EF27-50D9-08B6-1428E4F56A10}"/>
              </a:ext>
            </a:extLst>
          </p:cNvPr>
          <p:cNvSpPr/>
          <p:nvPr/>
        </p:nvSpPr>
        <p:spPr>
          <a:xfrm>
            <a:off x="3383280" y="1325880"/>
            <a:ext cx="2651760" cy="114300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33522521-A913-4A24-3B27-5B40D8DB5784}"/>
              </a:ext>
            </a:extLst>
          </p:cNvPr>
          <p:cNvSpPr txBox="1"/>
          <p:nvPr/>
        </p:nvSpPr>
        <p:spPr>
          <a:xfrm>
            <a:off x="3584448" y="1463040"/>
            <a:ext cx="2286000" cy="276999"/>
          </a:xfrm>
          <a:prstGeom prst="rect">
            <a:avLst/>
          </a:prstGeom>
          <a:noFill/>
        </p:spPr>
        <p:txBody>
          <a:bodyPr vert="horz" wrap="square" lIns="0" tIns="0" rIns="0" bIns="0" rtlCol="0">
            <a:noAutofit/>
          </a:bodyPr>
          <a:lstStyle/>
          <a:p>
            <a:r>
              <a:rPr lang="en-IN" sz="2800" b="1">
                <a:solidFill>
                  <a:srgbClr val="2E8B7A"/>
                </a:solidFill>
                <a:latin typeface="Cambria" panose="02040503050406030204" pitchFamily="18" charset="0"/>
              </a:rPr>
              <a:t>70.4 M</a:t>
            </a:r>
          </a:p>
        </p:txBody>
      </p:sp>
      <p:sp>
        <p:nvSpPr>
          <p:cNvPr id="9" name="TextBox 8">
            <a:extLst>
              <a:ext uri="{FF2B5EF4-FFF2-40B4-BE49-F238E27FC236}">
                <a16:creationId xmlns:a16="http://schemas.microsoft.com/office/drawing/2014/main" id="{825F7DBD-21C8-0200-AD33-7EF671648F1C}"/>
              </a:ext>
            </a:extLst>
          </p:cNvPr>
          <p:cNvSpPr txBox="1"/>
          <p:nvPr/>
        </p:nvSpPr>
        <p:spPr>
          <a:xfrm>
            <a:off x="3584448" y="2011680"/>
            <a:ext cx="2286000" cy="276999"/>
          </a:xfrm>
          <a:prstGeom prst="rect">
            <a:avLst/>
          </a:prstGeom>
          <a:noFill/>
        </p:spPr>
        <p:txBody>
          <a:bodyPr vert="horz" wrap="square" lIns="0" tIns="0" rIns="0" bIns="0" rtlCol="0">
            <a:noAutofit/>
          </a:bodyPr>
          <a:lstStyle/>
          <a:p>
            <a:r>
              <a:rPr lang="en-IN" sz="1300">
                <a:solidFill>
                  <a:srgbClr val="1C2430"/>
                </a:solidFill>
                <a:latin typeface="Calibri" panose="020F0502020204030204" pitchFamily="34" charset="0"/>
              </a:rPr>
              <a:t>flow records</a:t>
            </a:r>
          </a:p>
        </p:txBody>
      </p:sp>
      <p:sp>
        <p:nvSpPr>
          <p:cNvPr id="10" name="Rectangle: Rounded Corners 9">
            <a:extLst>
              <a:ext uri="{FF2B5EF4-FFF2-40B4-BE49-F238E27FC236}">
                <a16:creationId xmlns:a16="http://schemas.microsoft.com/office/drawing/2014/main" id="{C10DB37E-01D6-C183-DCD6-68C306958AF4}"/>
              </a:ext>
            </a:extLst>
          </p:cNvPr>
          <p:cNvSpPr/>
          <p:nvPr/>
        </p:nvSpPr>
        <p:spPr>
          <a:xfrm>
            <a:off x="6217920" y="1325880"/>
            <a:ext cx="2651760" cy="114300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B1B32CBE-F841-2C89-6BCA-AC29D9745419}"/>
              </a:ext>
            </a:extLst>
          </p:cNvPr>
          <p:cNvSpPr txBox="1"/>
          <p:nvPr/>
        </p:nvSpPr>
        <p:spPr>
          <a:xfrm>
            <a:off x="6419088" y="1463040"/>
            <a:ext cx="2286000" cy="276999"/>
          </a:xfrm>
          <a:prstGeom prst="rect">
            <a:avLst/>
          </a:prstGeom>
          <a:noFill/>
        </p:spPr>
        <p:txBody>
          <a:bodyPr vert="horz" wrap="square" lIns="0" tIns="0" rIns="0" bIns="0" rtlCol="0">
            <a:noAutofit/>
          </a:bodyPr>
          <a:lstStyle/>
          <a:p>
            <a:r>
              <a:rPr lang="en-IN" sz="2800" b="1">
                <a:solidFill>
                  <a:srgbClr val="2E8B7A"/>
                </a:solidFill>
                <a:latin typeface="Cambria" panose="02040503050406030204" pitchFamily="18" charset="0"/>
              </a:rPr>
              <a:t>2 days</a:t>
            </a:r>
          </a:p>
        </p:txBody>
      </p:sp>
      <p:sp>
        <p:nvSpPr>
          <p:cNvPr id="12" name="TextBox 11">
            <a:extLst>
              <a:ext uri="{FF2B5EF4-FFF2-40B4-BE49-F238E27FC236}">
                <a16:creationId xmlns:a16="http://schemas.microsoft.com/office/drawing/2014/main" id="{EFA36114-0510-46C5-232A-CFA7D88A9F08}"/>
              </a:ext>
            </a:extLst>
          </p:cNvPr>
          <p:cNvSpPr txBox="1"/>
          <p:nvPr/>
        </p:nvSpPr>
        <p:spPr>
          <a:xfrm>
            <a:off x="6419088" y="2011680"/>
            <a:ext cx="2286000" cy="276999"/>
          </a:xfrm>
          <a:prstGeom prst="rect">
            <a:avLst/>
          </a:prstGeom>
          <a:noFill/>
        </p:spPr>
        <p:txBody>
          <a:bodyPr vert="horz" wrap="square" lIns="0" tIns="0" rIns="0" bIns="0" rtlCol="0">
            <a:noAutofit/>
          </a:bodyPr>
          <a:lstStyle/>
          <a:p>
            <a:r>
              <a:rPr lang="en-US" sz="1300">
                <a:solidFill>
                  <a:srgbClr val="1C2430"/>
                </a:solidFill>
                <a:latin typeface="Calibri" panose="020F0502020204030204" pitchFamily="34" charset="0"/>
              </a:rPr>
              <a:t>train on day 1, test on day 2</a:t>
            </a:r>
            <a:endParaRPr lang="en-IN" sz="1300">
              <a:solidFill>
                <a:srgbClr val="1C2430"/>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06C1C06C-1480-090A-E289-03B3C28AE019}"/>
              </a:ext>
            </a:extLst>
          </p:cNvPr>
          <p:cNvSpPr/>
          <p:nvPr/>
        </p:nvSpPr>
        <p:spPr>
          <a:xfrm>
            <a:off x="9052560" y="1325880"/>
            <a:ext cx="2651760" cy="114300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6D0FFB3F-64D1-C7D1-8475-9ABCCEC99F5A}"/>
              </a:ext>
            </a:extLst>
          </p:cNvPr>
          <p:cNvSpPr txBox="1"/>
          <p:nvPr/>
        </p:nvSpPr>
        <p:spPr>
          <a:xfrm>
            <a:off x="9253728" y="1463040"/>
            <a:ext cx="2286000" cy="276999"/>
          </a:xfrm>
          <a:prstGeom prst="rect">
            <a:avLst/>
          </a:prstGeom>
          <a:noFill/>
        </p:spPr>
        <p:txBody>
          <a:bodyPr vert="horz" wrap="square" lIns="0" tIns="0" rIns="0" bIns="0" rtlCol="0">
            <a:noAutofit/>
          </a:bodyPr>
          <a:lstStyle/>
          <a:p>
            <a:r>
              <a:rPr lang="en-IN" sz="2800" b="1">
                <a:solidFill>
                  <a:srgbClr val="2E8B7A"/>
                </a:solidFill>
                <a:latin typeface="Cambria" panose="02040503050406030204" pitchFamily="18" charset="0"/>
              </a:rPr>
              <a:t>55</a:t>
            </a:r>
          </a:p>
        </p:txBody>
      </p:sp>
      <p:sp>
        <p:nvSpPr>
          <p:cNvPr id="15" name="TextBox 14">
            <a:extLst>
              <a:ext uri="{FF2B5EF4-FFF2-40B4-BE49-F238E27FC236}">
                <a16:creationId xmlns:a16="http://schemas.microsoft.com/office/drawing/2014/main" id="{39ED7CD3-BF17-147F-8118-C5CABA089925}"/>
              </a:ext>
            </a:extLst>
          </p:cNvPr>
          <p:cNvSpPr txBox="1"/>
          <p:nvPr/>
        </p:nvSpPr>
        <p:spPr>
          <a:xfrm>
            <a:off x="9253728" y="2011680"/>
            <a:ext cx="2286000" cy="276999"/>
          </a:xfrm>
          <a:prstGeom prst="rect">
            <a:avLst/>
          </a:prstGeom>
          <a:noFill/>
        </p:spPr>
        <p:txBody>
          <a:bodyPr vert="horz" wrap="square" lIns="0" tIns="0" rIns="0" bIns="0" rtlCol="0">
            <a:noAutofit/>
          </a:bodyPr>
          <a:lstStyle/>
          <a:p>
            <a:r>
              <a:rPr lang="en-US" sz="1300">
                <a:solidFill>
                  <a:srgbClr val="1C2430"/>
                </a:solidFill>
                <a:latin typeface="Calibri" panose="020F0502020204030204" pitchFamily="34" charset="0"/>
              </a:rPr>
              <a:t>features used by the models</a:t>
            </a:r>
            <a:endParaRPr lang="en-IN" sz="1300">
              <a:solidFill>
                <a:srgbClr val="1C2430"/>
              </a:solidFill>
              <a:latin typeface="Calibri" panose="020F0502020204030204" pitchFamily="34" charset="0"/>
            </a:endParaRPr>
          </a:p>
        </p:txBody>
      </p:sp>
      <p:sp>
        <p:nvSpPr>
          <p:cNvPr id="16" name="TextBox 15">
            <a:extLst>
              <a:ext uri="{FF2B5EF4-FFF2-40B4-BE49-F238E27FC236}">
                <a16:creationId xmlns:a16="http://schemas.microsoft.com/office/drawing/2014/main" id="{BEA67A30-C313-CEB7-6EF7-A596D00AA716}"/>
              </a:ext>
            </a:extLst>
          </p:cNvPr>
          <p:cNvSpPr txBox="1"/>
          <p:nvPr/>
        </p:nvSpPr>
        <p:spPr>
          <a:xfrm>
            <a:off x="548640" y="2697480"/>
            <a:ext cx="5760720" cy="276999"/>
          </a:xfrm>
          <a:prstGeom prst="rect">
            <a:avLst/>
          </a:prstGeom>
          <a:noFill/>
        </p:spPr>
        <p:txBody>
          <a:bodyPr vert="horz" wrap="square" lIns="0" tIns="0" rIns="0" bIns="0" rtlCol="0">
            <a:noAutofit/>
          </a:bodyPr>
          <a:lstStyle/>
          <a:p>
            <a:r>
              <a:rPr lang="en-IN" sz="1600" b="1">
                <a:solidFill>
                  <a:srgbClr val="2E8B7A"/>
                </a:solidFill>
                <a:latin typeface="Calibri" panose="020F0502020204030204" pitchFamily="34" charset="0"/>
              </a:rPr>
              <a:t>Source and contents</a:t>
            </a:r>
          </a:p>
        </p:txBody>
      </p:sp>
      <p:sp>
        <p:nvSpPr>
          <p:cNvPr id="17" name="TextBox 16">
            <a:extLst>
              <a:ext uri="{FF2B5EF4-FFF2-40B4-BE49-F238E27FC236}">
                <a16:creationId xmlns:a16="http://schemas.microsoft.com/office/drawing/2014/main" id="{5FCF2B78-A5D6-B7F6-933B-0E01C868B7C8}"/>
              </a:ext>
            </a:extLst>
          </p:cNvPr>
          <p:cNvSpPr txBox="1"/>
          <p:nvPr/>
        </p:nvSpPr>
        <p:spPr>
          <a:xfrm>
            <a:off x="548640" y="3063240"/>
            <a:ext cx="576072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a:solidFill>
                  <a:srgbClr val="1C2430"/>
                </a:solidFill>
                <a:latin typeface="Calibri" panose="020F0502020204030204" pitchFamily="34" charset="0"/>
              </a:rPr>
              <a:t>Canadian Institute for Cybersecurity, University of New Brunswick (Sharafaldin et al., ICCST 2019); flow records from CICFlowMeter</a:t>
            </a:r>
          </a:p>
          <a:p>
            <a:pPr marL="177800" indent="-177800">
              <a:spcAft>
                <a:spcPts val="400"/>
              </a:spcAft>
              <a:buFont typeface="+mj-lt"/>
              <a:buChar char="•"/>
            </a:pPr>
            <a:r>
              <a:rPr lang="en-US" sz="1300">
                <a:solidFill>
                  <a:srgbClr val="1C2430"/>
                </a:solidFill>
                <a:latin typeface="Calibri" panose="020F0502020204030204" pitchFamily="34" charset="0"/>
              </a:rPr>
              <a:t>Day 1, 12 Jan 2019: 11 CSV files, 50.1 M flows, benign + 12 attack types</a:t>
            </a:r>
          </a:p>
          <a:p>
            <a:pPr marL="177800" indent="-177800">
              <a:spcAft>
                <a:spcPts val="400"/>
              </a:spcAft>
              <a:buFont typeface="+mj-lt"/>
              <a:buChar char="•"/>
            </a:pPr>
            <a:r>
              <a:rPr lang="en-US" sz="1300">
                <a:solidFill>
                  <a:srgbClr val="1C2430"/>
                </a:solidFill>
                <a:latin typeface="Calibri" panose="020F0502020204030204" pitchFamily="34" charset="0"/>
              </a:rPr>
              <a:t>Day 2, 11 Mar 2019: 7 files stored as nested JSON, 19.9 M flows after cleaning; Portmap appears only on day 2</a:t>
            </a:r>
          </a:p>
          <a:p>
            <a:pPr marL="177800" indent="-177800">
              <a:spcAft>
                <a:spcPts val="400"/>
              </a:spcAft>
              <a:buFont typeface="+mj-lt"/>
              <a:buChar char="•"/>
            </a:pPr>
            <a:r>
              <a:rPr lang="en-US" sz="1300">
                <a:solidFill>
                  <a:srgbClr val="1C2430"/>
                </a:solidFill>
                <a:latin typeface="Calibri" panose="020F0502020204030204" pitchFamily="34" charset="0"/>
              </a:rPr>
              <a:t>Benign traffic is under 1% of flows</a:t>
            </a:r>
          </a:p>
          <a:p>
            <a:pPr marL="177800" indent="-177800">
              <a:spcAft>
                <a:spcPts val="400"/>
              </a:spcAft>
              <a:buFont typeface="+mj-lt"/>
              <a:buChar char="•"/>
            </a:pPr>
            <a:r>
              <a:rPr lang="en-US" sz="1300">
                <a:solidFill>
                  <a:srgbClr val="1C2430"/>
                </a:solidFill>
                <a:latin typeface="Calibri" panose="020F0502020204030204" pitchFamily="34" charset="0"/>
              </a:rPr>
              <a:t>Key attributes: packet counts and sizes, bytes and packets per second, inter-arrival times, TCP flag counts, header lengths, active and idle times</a:t>
            </a:r>
          </a:p>
          <a:p>
            <a:pPr marL="177800" indent="-177800">
              <a:spcAft>
                <a:spcPts val="400"/>
              </a:spcAft>
              <a:buFont typeface="+mj-lt"/>
              <a:buChar char="•"/>
            </a:pPr>
            <a:r>
              <a:rPr lang="en-US" sz="1300">
                <a:solidFill>
                  <a:srgbClr val="1C2430"/>
                </a:solidFill>
                <a:latin typeface="Calibri" panose="020F0502020204030204" pitchFamily="34" charset="0"/>
              </a:rPr>
              <a:t>Left out on purpose: IPs, ports, flow IDs, timestamps, which describe the testbed, not the traffic</a:t>
            </a:r>
            <a:endParaRPr lang="en-IN" sz="1300">
              <a:solidFill>
                <a:srgbClr val="1C2430"/>
              </a:solidFill>
              <a:latin typeface="Calibri" panose="020F0502020204030204" pitchFamily="34" charset="0"/>
            </a:endParaRPr>
          </a:p>
        </p:txBody>
      </p:sp>
      <p:sp>
        <p:nvSpPr>
          <p:cNvPr id="18" name="TextBox 17">
            <a:extLst>
              <a:ext uri="{FF2B5EF4-FFF2-40B4-BE49-F238E27FC236}">
                <a16:creationId xmlns:a16="http://schemas.microsoft.com/office/drawing/2014/main" id="{A1C29BEE-E7B8-103B-6CCD-7A40CDBAC88B}"/>
              </a:ext>
            </a:extLst>
          </p:cNvPr>
          <p:cNvSpPr txBox="1"/>
          <p:nvPr/>
        </p:nvSpPr>
        <p:spPr>
          <a:xfrm>
            <a:off x="6720840" y="2697480"/>
            <a:ext cx="4937760" cy="276999"/>
          </a:xfrm>
          <a:prstGeom prst="rect">
            <a:avLst/>
          </a:prstGeom>
          <a:noFill/>
        </p:spPr>
        <p:txBody>
          <a:bodyPr vert="horz" wrap="square" lIns="0" tIns="0" rIns="0" bIns="0" rtlCol="0">
            <a:noAutofit/>
          </a:bodyPr>
          <a:lstStyle/>
          <a:p>
            <a:r>
              <a:rPr lang="en-IN" sz="1600" b="1">
                <a:solidFill>
                  <a:srgbClr val="2E8B7A"/>
                </a:solidFill>
                <a:latin typeface="Calibri" panose="020F0502020204030204" pitchFamily="34" charset="0"/>
              </a:rPr>
              <a:t>Day 2 after cleaning</a:t>
            </a:r>
          </a:p>
        </p:txBody>
      </p:sp>
      <p:graphicFrame>
        <p:nvGraphicFramePr>
          <p:cNvPr id="19" name="Table 18">
            <a:extLst>
              <a:ext uri="{FF2B5EF4-FFF2-40B4-BE49-F238E27FC236}">
                <a16:creationId xmlns:a16="http://schemas.microsoft.com/office/drawing/2014/main" id="{CF4816E3-528A-9C5C-9E68-CCBFC0544C11}"/>
              </a:ext>
            </a:extLst>
          </p:cNvPr>
          <p:cNvGraphicFramePr>
            <a:graphicFrameLocks noGrp="1"/>
          </p:cNvGraphicFramePr>
          <p:nvPr>
            <p:extLst>
              <p:ext uri="{D42A27DB-BD31-4B8C-83A1-F6EECF244321}">
                <p14:modId xmlns:p14="http://schemas.microsoft.com/office/powerpoint/2010/main" val="3953969733"/>
              </p:ext>
            </p:extLst>
          </p:nvPr>
        </p:nvGraphicFramePr>
        <p:xfrm>
          <a:off x="6720840" y="3108960"/>
          <a:ext cx="4919472" cy="1295400"/>
        </p:xfrm>
        <a:graphic>
          <a:graphicData uri="http://schemas.openxmlformats.org/drawingml/2006/table">
            <a:tbl>
              <a:tblPr firstRow="1" bandRow="1">
                <a:tableStyleId>{5C22544A-7EE6-4342-B048-85BDC9FD1C3A}</a:tableStyleId>
              </a:tblPr>
              <a:tblGrid>
                <a:gridCol w="1097280">
                  <a:extLst>
                    <a:ext uri="{9D8B030D-6E8A-4147-A177-3AD203B41FA5}">
                      <a16:colId xmlns:a16="http://schemas.microsoft.com/office/drawing/2014/main" val="368602128"/>
                    </a:ext>
                  </a:extLst>
                </a:gridCol>
                <a:gridCol w="1362456">
                  <a:extLst>
                    <a:ext uri="{9D8B030D-6E8A-4147-A177-3AD203B41FA5}">
                      <a16:colId xmlns:a16="http://schemas.microsoft.com/office/drawing/2014/main" val="1236121222"/>
                    </a:ext>
                  </a:extLst>
                </a:gridCol>
                <a:gridCol w="1097280">
                  <a:extLst>
                    <a:ext uri="{9D8B030D-6E8A-4147-A177-3AD203B41FA5}">
                      <a16:colId xmlns:a16="http://schemas.microsoft.com/office/drawing/2014/main" val="3780351320"/>
                    </a:ext>
                  </a:extLst>
                </a:gridCol>
                <a:gridCol w="1362456">
                  <a:extLst>
                    <a:ext uri="{9D8B030D-6E8A-4147-A177-3AD203B41FA5}">
                      <a16:colId xmlns:a16="http://schemas.microsoft.com/office/drawing/2014/main" val="2457149743"/>
                    </a:ext>
                  </a:extLst>
                </a:gridCol>
              </a:tblGrid>
              <a:tr h="256032">
                <a:tc>
                  <a:txBody>
                    <a:bodyPr/>
                    <a:lstStyle/>
                    <a:p>
                      <a:r>
                        <a:rPr lang="en-IN" sz="1200" b="1">
                          <a:solidFill>
                            <a:srgbClr val="FFFFFF"/>
                          </a:solidFill>
                          <a:latin typeface="Calibri" panose="020F0502020204030204" pitchFamily="34" charset="0"/>
                        </a:rPr>
                        <a:t>Type</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a:solidFill>
                            <a:srgbClr val="FFFFFF"/>
                          </a:solidFill>
                          <a:latin typeface="Calibri" panose="020F0502020204030204" pitchFamily="34" charset="0"/>
                        </a:rPr>
                        <a:t>Flows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a:solidFill>
                            <a:srgbClr val="FFFFFF"/>
                          </a:solidFill>
                          <a:latin typeface="Calibri" panose="020F0502020204030204" pitchFamily="34" charset="0"/>
                        </a:rPr>
                        <a:t>Type</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a:solidFill>
                            <a:srgbClr val="FFFFFF"/>
                          </a:solidFill>
                          <a:latin typeface="Calibri" panose="020F0502020204030204" pitchFamily="34" charset="0"/>
                        </a:rPr>
                        <a:t>Flows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extLst>
                  <a:ext uri="{0D108BD9-81ED-4DB2-BD59-A6C34878D82A}">
                    <a16:rowId xmlns:a16="http://schemas.microsoft.com/office/drawing/2014/main" val="2933694587"/>
                  </a:ext>
                </a:extLst>
              </a:tr>
              <a:tr h="256032">
                <a:tc>
                  <a:txBody>
                    <a:bodyPr/>
                    <a:lstStyle/>
                    <a:p>
                      <a:r>
                        <a:rPr lang="en-IN" sz="1200" b="1">
                          <a:solidFill>
                            <a:srgbClr val="1C2430"/>
                          </a:solidFill>
                          <a:latin typeface="Calibri" panose="020F0502020204030204" pitchFamily="34" charset="0"/>
                        </a:rPr>
                        <a:t>MSSQL</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5,787,453</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LDAP</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1,915,122</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1169638086"/>
                  </a:ext>
                </a:extLst>
              </a:tr>
              <a:tr h="256032">
                <a:tc>
                  <a:txBody>
                    <a:bodyPr/>
                    <a:lstStyle/>
                    <a:p>
                      <a:r>
                        <a:rPr lang="en-IN" sz="1200" b="1">
                          <a:solidFill>
                            <a:srgbClr val="1C2430"/>
                          </a:solidFill>
                          <a:latin typeface="Calibri" panose="020F0502020204030204" pitchFamily="34" charset="0"/>
                        </a:rPr>
                        <a:t>Syn</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4,413,105</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Portmap</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186,960</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12025494"/>
                  </a:ext>
                </a:extLst>
              </a:tr>
              <a:tr h="256032">
                <a:tc>
                  <a:txBody>
                    <a:bodyPr/>
                    <a:lstStyle/>
                    <a:p>
                      <a:r>
                        <a:rPr lang="en-IN" sz="1200" b="1">
                          <a:solidFill>
                            <a:srgbClr val="1C2430"/>
                          </a:solidFill>
                          <a:latin typeface="Calibri" panose="020F0502020204030204" pitchFamily="34" charset="0"/>
                        </a:rPr>
                        <a:t>UDP</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3,867,155</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Benign</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52,561</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2184929768"/>
                  </a:ext>
                </a:extLst>
              </a:tr>
              <a:tr h="256032">
                <a:tc>
                  <a:txBody>
                    <a:bodyPr/>
                    <a:lstStyle/>
                    <a:p>
                      <a:r>
                        <a:rPr lang="en-IN" sz="1200" b="1">
                          <a:solidFill>
                            <a:srgbClr val="1C2430"/>
                          </a:solidFill>
                          <a:latin typeface="Calibri" panose="020F0502020204030204" pitchFamily="34" charset="0"/>
                        </a:rPr>
                        <a:t>NetBIOS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3,657,497</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UDPLag</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1,873</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3034833265"/>
                  </a:ext>
                </a:extLst>
              </a:tr>
            </a:tbl>
          </a:graphicData>
        </a:graphic>
      </p:graphicFrame>
      <p:sp>
        <p:nvSpPr>
          <p:cNvPr id="20" name="TextBox 19">
            <a:extLst>
              <a:ext uri="{FF2B5EF4-FFF2-40B4-BE49-F238E27FC236}">
                <a16:creationId xmlns:a16="http://schemas.microsoft.com/office/drawing/2014/main" id="{92FB4604-8347-F3DB-A112-998D75FA1478}"/>
              </a:ext>
            </a:extLst>
          </p:cNvPr>
          <p:cNvSpPr txBox="1"/>
          <p:nvPr/>
        </p:nvSpPr>
        <p:spPr>
          <a:xfrm>
            <a:off x="6720840" y="4572000"/>
            <a:ext cx="4937760" cy="276999"/>
          </a:xfrm>
          <a:prstGeom prst="rect">
            <a:avLst/>
          </a:prstGeom>
          <a:noFill/>
        </p:spPr>
        <p:txBody>
          <a:bodyPr vert="horz" wrap="square" lIns="0" tIns="0" rIns="0" bIns="0" rtlCol="0">
            <a:noAutofit/>
          </a:bodyPr>
          <a:lstStyle/>
          <a:p>
            <a:r>
              <a:rPr lang="en-US" sz="1200">
                <a:solidFill>
                  <a:srgbClr val="55606E"/>
                </a:solidFill>
                <a:latin typeface="Calibri" panose="020F0502020204030204" pitchFamily="34" charset="0"/>
              </a:rPr>
              <a:t>84% of day-1 flows have exactly the same 55 values as another flow, because floods repeat themselves. We merge identical rows before splitting, so the same pattern is never in both train and test.</a:t>
            </a:r>
            <a:endParaRPr lang="en-IN" sz="1200">
              <a:solidFill>
                <a:srgbClr val="55606E"/>
              </a:solidFill>
              <a:latin typeface="Calibri" panose="020F0502020204030204" pitchFamily="34" charset="0"/>
            </a:endParaRPr>
          </a:p>
        </p:txBody>
      </p:sp>
    </p:spTree>
    <p:extLst>
      <p:ext uri="{BB962C8B-B14F-4D97-AF65-F5344CB8AC3E}">
        <p14:creationId xmlns:p14="http://schemas.microsoft.com/office/powerpoint/2010/main" val="860635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dirty="0"/>
              <a:t>End to end pipeline</a:t>
            </a:r>
          </a:p>
        </p:txBody>
      </p:sp>
      <p:sp>
        <p:nvSpPr>
          <p:cNvPr id="4" name="Shape 1"/>
          <p:cNvSpPr/>
          <p:nvPr/>
        </p:nvSpPr>
        <p:spPr>
          <a:xfrm>
            <a:off x="548640" y="1600200"/>
            <a:ext cx="1463040" cy="777240"/>
          </a:xfrm>
          <a:prstGeom prst="roundRect">
            <a:avLst>
              <a:gd name="adj" fmla="val 7059"/>
            </a:avLst>
          </a:prstGeom>
          <a:solidFill>
            <a:srgbClr val="EEF1F5"/>
          </a:solidFill>
          <a:ln w="15875">
            <a:solidFill>
              <a:srgbClr val="B8C2CF"/>
            </a:solidFill>
            <a:prstDash val="solid"/>
          </a:ln>
        </p:spPr>
        <p:txBody>
          <a:bodyPr/>
          <a:lstStyle/>
          <a:p>
            <a:endParaRPr lang="en-IN"/>
          </a:p>
        </p:txBody>
      </p:sp>
      <p:sp>
        <p:nvSpPr>
          <p:cNvPr id="5" name="Text 2"/>
          <p:cNvSpPr txBox="1"/>
          <p:nvPr/>
        </p:nvSpPr>
        <p:spPr>
          <a:xfrm>
            <a:off x="548640" y="1600200"/>
            <a:ext cx="14630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Raw files</a:t>
            </a:r>
            <a:endParaRPr lang="en-US" sz="1400" dirty="0"/>
          </a:p>
          <a:p>
            <a:pPr marL="0" indent="0" algn="ctr">
              <a:buNone/>
            </a:pPr>
            <a:r>
              <a:rPr lang="en-US" sz="1100" dirty="0">
                <a:solidFill>
                  <a:srgbClr val="55606E"/>
                </a:solidFill>
              </a:rPr>
              <a:t>51.2 GB CSV, JSON</a:t>
            </a:r>
            <a:endParaRPr lang="en-US" sz="1400" dirty="0"/>
          </a:p>
        </p:txBody>
      </p:sp>
      <p:sp>
        <p:nvSpPr>
          <p:cNvPr id="6" name="Shape 3"/>
          <p:cNvSpPr/>
          <p:nvPr/>
        </p:nvSpPr>
        <p:spPr>
          <a:xfrm>
            <a:off x="2377440" y="1600200"/>
            <a:ext cx="1463040" cy="777240"/>
          </a:xfrm>
          <a:prstGeom prst="roundRect">
            <a:avLst>
              <a:gd name="adj" fmla="val 7059"/>
            </a:avLst>
          </a:prstGeom>
          <a:solidFill>
            <a:srgbClr val="E6F2EF"/>
          </a:solidFill>
          <a:ln w="15875">
            <a:solidFill>
              <a:srgbClr val="2E8B7A"/>
            </a:solidFill>
            <a:prstDash val="solid"/>
          </a:ln>
        </p:spPr>
        <p:txBody>
          <a:bodyPr/>
          <a:lstStyle/>
          <a:p>
            <a:endParaRPr lang="en-IN"/>
          </a:p>
        </p:txBody>
      </p:sp>
      <p:sp>
        <p:nvSpPr>
          <p:cNvPr id="7" name="Text 4"/>
          <p:cNvSpPr txBox="1"/>
          <p:nvPr/>
        </p:nvSpPr>
        <p:spPr>
          <a:xfrm>
            <a:off x="2377440" y="1600200"/>
            <a:ext cx="14630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HDFS</a:t>
            </a:r>
            <a:endParaRPr lang="en-US" sz="1400" dirty="0"/>
          </a:p>
          <a:p>
            <a:pPr marL="0" indent="0" algn="ctr">
              <a:buNone/>
            </a:pPr>
            <a:r>
              <a:rPr lang="en-US" sz="1100" dirty="0">
                <a:solidFill>
                  <a:srgbClr val="55606E"/>
                </a:solidFill>
              </a:rPr>
              <a:t>data and models</a:t>
            </a:r>
            <a:endParaRPr lang="en-US" sz="1400" dirty="0"/>
          </a:p>
        </p:txBody>
      </p:sp>
      <p:sp>
        <p:nvSpPr>
          <p:cNvPr id="8" name="Shape 5"/>
          <p:cNvSpPr/>
          <p:nvPr/>
        </p:nvSpPr>
        <p:spPr>
          <a:xfrm>
            <a:off x="4206240" y="1600200"/>
            <a:ext cx="1920240" cy="777240"/>
          </a:xfrm>
          <a:prstGeom prst="roundRect">
            <a:avLst>
              <a:gd name="adj" fmla="val 7059"/>
            </a:avLst>
          </a:prstGeom>
          <a:solidFill>
            <a:srgbClr val="FBF1E1"/>
          </a:solidFill>
          <a:ln w="15875">
            <a:solidFill>
              <a:srgbClr val="D99A2B"/>
            </a:solidFill>
            <a:prstDash val="solid"/>
          </a:ln>
        </p:spPr>
        <p:txBody>
          <a:bodyPr/>
          <a:lstStyle/>
          <a:p>
            <a:endParaRPr lang="en-IN"/>
          </a:p>
        </p:txBody>
      </p:sp>
      <p:sp>
        <p:nvSpPr>
          <p:cNvPr id="9" name="Text 6"/>
          <p:cNvSpPr txBox="1"/>
          <p:nvPr/>
        </p:nvSpPr>
        <p:spPr>
          <a:xfrm>
            <a:off x="4206240" y="1600200"/>
            <a:ext cx="19202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Spark batch</a:t>
            </a:r>
            <a:endParaRPr lang="en-US" sz="1400" dirty="0"/>
          </a:p>
          <a:p>
            <a:pPr marL="0" indent="0" algn="ctr">
              <a:buNone/>
            </a:pPr>
            <a:r>
              <a:rPr lang="en-US" sz="1100" dirty="0">
                <a:solidFill>
                  <a:srgbClr val="55606E"/>
                </a:solidFill>
              </a:rPr>
              <a:t>clean, features, train</a:t>
            </a:r>
            <a:endParaRPr lang="en-US" sz="1400" dirty="0"/>
          </a:p>
        </p:txBody>
      </p:sp>
      <p:sp>
        <p:nvSpPr>
          <p:cNvPr id="10" name="Shape 7"/>
          <p:cNvSpPr/>
          <p:nvPr/>
        </p:nvSpPr>
        <p:spPr>
          <a:xfrm>
            <a:off x="2377440" y="3063240"/>
            <a:ext cx="1463040" cy="777240"/>
          </a:xfrm>
          <a:prstGeom prst="roundRect">
            <a:avLst>
              <a:gd name="adj" fmla="val 7059"/>
            </a:avLst>
          </a:prstGeom>
          <a:solidFill>
            <a:srgbClr val="EEF1F8"/>
          </a:solidFill>
          <a:ln w="15875">
            <a:solidFill>
              <a:srgbClr val="6F8FD0"/>
            </a:solidFill>
            <a:prstDash val="solid"/>
          </a:ln>
        </p:spPr>
        <p:txBody>
          <a:bodyPr/>
          <a:lstStyle/>
          <a:p>
            <a:endParaRPr lang="en-IN"/>
          </a:p>
        </p:txBody>
      </p:sp>
      <p:sp>
        <p:nvSpPr>
          <p:cNvPr id="11" name="Text 8"/>
          <p:cNvSpPr txBox="1"/>
          <p:nvPr/>
        </p:nvSpPr>
        <p:spPr>
          <a:xfrm>
            <a:off x="2377440" y="3063240"/>
            <a:ext cx="14630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Kafka</a:t>
            </a:r>
            <a:endParaRPr lang="en-US" sz="1400" dirty="0"/>
          </a:p>
          <a:p>
            <a:pPr marL="0" indent="0" algn="ctr">
              <a:buNone/>
            </a:pPr>
            <a:r>
              <a:rPr lang="en-US" sz="1100" dirty="0">
                <a:solidFill>
                  <a:srgbClr val="55606E"/>
                </a:solidFill>
              </a:rPr>
              <a:t>day 2, in time order</a:t>
            </a:r>
            <a:endParaRPr lang="en-US" sz="1400" dirty="0"/>
          </a:p>
        </p:txBody>
      </p:sp>
      <p:sp>
        <p:nvSpPr>
          <p:cNvPr id="12" name="Shape 9"/>
          <p:cNvSpPr/>
          <p:nvPr/>
        </p:nvSpPr>
        <p:spPr>
          <a:xfrm>
            <a:off x="4206240" y="3063240"/>
            <a:ext cx="1920240" cy="777240"/>
          </a:xfrm>
          <a:prstGeom prst="roundRect">
            <a:avLst>
              <a:gd name="adj" fmla="val 7059"/>
            </a:avLst>
          </a:prstGeom>
          <a:solidFill>
            <a:srgbClr val="FBF1E1"/>
          </a:solidFill>
          <a:ln w="15875">
            <a:solidFill>
              <a:srgbClr val="D99A2B"/>
            </a:solidFill>
            <a:prstDash val="solid"/>
          </a:ln>
        </p:spPr>
        <p:txBody>
          <a:bodyPr/>
          <a:lstStyle/>
          <a:p>
            <a:endParaRPr lang="en-IN"/>
          </a:p>
        </p:txBody>
      </p:sp>
      <p:sp>
        <p:nvSpPr>
          <p:cNvPr id="13" name="Text 10"/>
          <p:cNvSpPr txBox="1"/>
          <p:nvPr/>
        </p:nvSpPr>
        <p:spPr>
          <a:xfrm>
            <a:off x="4206240" y="3063240"/>
            <a:ext cx="19202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Spark streaming</a:t>
            </a:r>
            <a:endParaRPr lang="en-US" sz="1400" dirty="0"/>
          </a:p>
          <a:p>
            <a:pPr marL="0" indent="0" algn="ctr">
              <a:buNone/>
            </a:pPr>
            <a:r>
              <a:rPr lang="en-US" sz="1100" dirty="0">
                <a:solidFill>
                  <a:srgbClr val="55606E"/>
                </a:solidFill>
              </a:rPr>
              <a:t>gate, router, 5 models</a:t>
            </a:r>
            <a:endParaRPr lang="en-US" sz="1400" dirty="0"/>
          </a:p>
        </p:txBody>
      </p:sp>
      <p:sp>
        <p:nvSpPr>
          <p:cNvPr id="14" name="Shape 11"/>
          <p:cNvSpPr/>
          <p:nvPr/>
        </p:nvSpPr>
        <p:spPr>
          <a:xfrm>
            <a:off x="4206240" y="4526280"/>
            <a:ext cx="1920240" cy="777240"/>
          </a:xfrm>
          <a:prstGeom prst="roundRect">
            <a:avLst>
              <a:gd name="adj" fmla="val 7059"/>
            </a:avLst>
          </a:prstGeom>
          <a:solidFill>
            <a:srgbClr val="EEF1F8"/>
          </a:solidFill>
          <a:ln w="15875">
            <a:solidFill>
              <a:srgbClr val="6F8FD0"/>
            </a:solidFill>
            <a:prstDash val="solid"/>
          </a:ln>
        </p:spPr>
        <p:txBody>
          <a:bodyPr/>
          <a:lstStyle/>
          <a:p>
            <a:endParaRPr lang="en-IN"/>
          </a:p>
        </p:txBody>
      </p:sp>
      <p:sp>
        <p:nvSpPr>
          <p:cNvPr id="15" name="Text 12"/>
          <p:cNvSpPr txBox="1"/>
          <p:nvPr/>
        </p:nvSpPr>
        <p:spPr>
          <a:xfrm>
            <a:off x="4206240" y="4526280"/>
            <a:ext cx="19202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Kafka label topics</a:t>
            </a:r>
            <a:endParaRPr lang="en-US" sz="1400" dirty="0"/>
          </a:p>
          <a:p>
            <a:pPr marL="0" indent="0" algn="ctr">
              <a:buNone/>
            </a:pPr>
            <a:r>
              <a:rPr lang="en-US" sz="1100" dirty="0">
                <a:solidFill>
                  <a:srgbClr val="55606E"/>
                </a:solidFill>
              </a:rPr>
              <a:t>requests and answers</a:t>
            </a:r>
            <a:endParaRPr lang="en-US" sz="1400" dirty="0"/>
          </a:p>
        </p:txBody>
      </p:sp>
      <p:sp>
        <p:nvSpPr>
          <p:cNvPr id="16" name="Shape 13"/>
          <p:cNvSpPr/>
          <p:nvPr/>
        </p:nvSpPr>
        <p:spPr>
          <a:xfrm>
            <a:off x="6492240" y="3063240"/>
            <a:ext cx="1463040" cy="777240"/>
          </a:xfrm>
          <a:prstGeom prst="roundRect">
            <a:avLst>
              <a:gd name="adj" fmla="val 7059"/>
            </a:avLst>
          </a:prstGeom>
          <a:solidFill>
            <a:srgbClr val="E6F2EF"/>
          </a:solidFill>
          <a:ln w="15875">
            <a:solidFill>
              <a:srgbClr val="2E8B7A"/>
            </a:solidFill>
            <a:prstDash val="solid"/>
          </a:ln>
        </p:spPr>
        <p:txBody>
          <a:bodyPr/>
          <a:lstStyle/>
          <a:p>
            <a:endParaRPr lang="en-IN"/>
          </a:p>
        </p:txBody>
      </p:sp>
      <p:sp>
        <p:nvSpPr>
          <p:cNvPr id="17" name="Text 14"/>
          <p:cNvSpPr txBox="1"/>
          <p:nvPr/>
        </p:nvSpPr>
        <p:spPr>
          <a:xfrm>
            <a:off x="6492240" y="3063240"/>
            <a:ext cx="146304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PostgreSQL</a:t>
            </a:r>
            <a:endParaRPr lang="en-US" sz="1400" dirty="0"/>
          </a:p>
          <a:p>
            <a:pPr marL="0" indent="0" algn="ctr">
              <a:buNone/>
            </a:pPr>
            <a:r>
              <a:rPr lang="en-US" sz="1100" dirty="0">
                <a:solidFill>
                  <a:srgbClr val="55606E"/>
                </a:solidFill>
              </a:rPr>
              <a:t>result tables</a:t>
            </a:r>
            <a:endParaRPr lang="en-US" sz="1400" dirty="0"/>
          </a:p>
        </p:txBody>
      </p:sp>
      <p:sp>
        <p:nvSpPr>
          <p:cNvPr id="18" name="Shape 15"/>
          <p:cNvSpPr/>
          <p:nvPr/>
        </p:nvSpPr>
        <p:spPr>
          <a:xfrm>
            <a:off x="8275320" y="2377440"/>
            <a:ext cx="1417320" cy="640080"/>
          </a:xfrm>
          <a:prstGeom prst="roundRect">
            <a:avLst>
              <a:gd name="adj" fmla="val 8571"/>
            </a:avLst>
          </a:prstGeom>
          <a:solidFill>
            <a:srgbClr val="EEF1F5"/>
          </a:solidFill>
          <a:ln w="15875">
            <a:solidFill>
              <a:srgbClr val="B8C2CF"/>
            </a:solidFill>
            <a:prstDash val="solid"/>
          </a:ln>
        </p:spPr>
        <p:txBody>
          <a:bodyPr/>
          <a:lstStyle/>
          <a:p>
            <a:endParaRPr lang="en-IN"/>
          </a:p>
        </p:txBody>
      </p:sp>
      <p:sp>
        <p:nvSpPr>
          <p:cNvPr id="19" name="Text 16"/>
          <p:cNvSpPr txBox="1"/>
          <p:nvPr/>
        </p:nvSpPr>
        <p:spPr>
          <a:xfrm>
            <a:off x="8275320" y="2377440"/>
            <a:ext cx="1417320" cy="640080"/>
          </a:xfrm>
          <a:prstGeom prst="rect">
            <a:avLst/>
          </a:prstGeom>
          <a:noFill/>
          <a:ln/>
        </p:spPr>
        <p:txBody>
          <a:bodyPr wrap="square" lIns="508" tIns="508" rIns="508" bIns="508" rtlCol="0" anchor="ctr"/>
          <a:lstStyle/>
          <a:p>
            <a:pPr marL="0" indent="0" algn="ctr">
              <a:buNone/>
            </a:pPr>
            <a:r>
              <a:rPr lang="en-US" sz="1400" b="1" dirty="0">
                <a:solidFill>
                  <a:schemeClr val="tx1"/>
                </a:solidFill>
              </a:rPr>
              <a:t>Grafana</a:t>
            </a:r>
            <a:endParaRPr lang="en-US" sz="1400" dirty="0"/>
          </a:p>
        </p:txBody>
      </p:sp>
      <p:sp>
        <p:nvSpPr>
          <p:cNvPr id="20" name="Shape 17"/>
          <p:cNvSpPr/>
          <p:nvPr/>
        </p:nvSpPr>
        <p:spPr>
          <a:xfrm>
            <a:off x="8275320" y="3886200"/>
            <a:ext cx="1417320" cy="640080"/>
          </a:xfrm>
          <a:prstGeom prst="roundRect">
            <a:avLst>
              <a:gd name="adj" fmla="val 8571"/>
            </a:avLst>
          </a:prstGeom>
          <a:solidFill>
            <a:srgbClr val="EEF1F5"/>
          </a:solidFill>
          <a:ln w="15875">
            <a:solidFill>
              <a:srgbClr val="B8C2CF"/>
            </a:solidFill>
            <a:prstDash val="solid"/>
          </a:ln>
        </p:spPr>
        <p:txBody>
          <a:bodyPr/>
          <a:lstStyle/>
          <a:p>
            <a:endParaRPr lang="en-IN"/>
          </a:p>
        </p:txBody>
      </p:sp>
      <p:sp>
        <p:nvSpPr>
          <p:cNvPr id="21" name="Text 18"/>
          <p:cNvSpPr txBox="1"/>
          <p:nvPr/>
        </p:nvSpPr>
        <p:spPr>
          <a:xfrm>
            <a:off x="8275320" y="3886200"/>
            <a:ext cx="1417320" cy="640080"/>
          </a:xfrm>
          <a:prstGeom prst="rect">
            <a:avLst/>
          </a:prstGeom>
          <a:noFill/>
          <a:ln/>
        </p:spPr>
        <p:txBody>
          <a:bodyPr wrap="square" lIns="508" tIns="508" rIns="508" bIns="508" rtlCol="0" anchor="ctr"/>
          <a:lstStyle/>
          <a:p>
            <a:pPr marL="0" indent="0" algn="ctr">
              <a:buNone/>
            </a:pPr>
            <a:r>
              <a:rPr lang="en-US" sz="1400" b="1" dirty="0">
                <a:solidFill>
                  <a:schemeClr val="tx1"/>
                </a:solidFill>
              </a:rPr>
              <a:t>Website</a:t>
            </a:r>
            <a:endParaRPr lang="en-US" sz="1400" dirty="0"/>
          </a:p>
        </p:txBody>
      </p:sp>
      <p:sp>
        <p:nvSpPr>
          <p:cNvPr id="22" name="Shape 19"/>
          <p:cNvSpPr/>
          <p:nvPr/>
        </p:nvSpPr>
        <p:spPr>
          <a:xfrm>
            <a:off x="2011680" y="1984248"/>
            <a:ext cx="347472" cy="0"/>
          </a:xfrm>
          <a:prstGeom prst="line">
            <a:avLst/>
          </a:prstGeom>
          <a:noFill/>
          <a:ln w="19050">
            <a:solidFill>
              <a:srgbClr val="55606E"/>
            </a:solidFill>
            <a:prstDash val="solid"/>
            <a:tailEnd type="triangle"/>
          </a:ln>
        </p:spPr>
        <p:txBody>
          <a:bodyPr/>
          <a:lstStyle/>
          <a:p>
            <a:endParaRPr lang="en-IN"/>
          </a:p>
        </p:txBody>
      </p:sp>
      <p:sp>
        <p:nvSpPr>
          <p:cNvPr id="23" name="Shape 20"/>
          <p:cNvSpPr/>
          <p:nvPr/>
        </p:nvSpPr>
        <p:spPr>
          <a:xfrm>
            <a:off x="3840480" y="1984248"/>
            <a:ext cx="347472" cy="0"/>
          </a:xfrm>
          <a:prstGeom prst="line">
            <a:avLst/>
          </a:prstGeom>
          <a:noFill/>
          <a:ln w="19050">
            <a:solidFill>
              <a:srgbClr val="55606E"/>
            </a:solidFill>
            <a:prstDash val="solid"/>
            <a:tailEnd type="triangle"/>
          </a:ln>
        </p:spPr>
        <p:txBody>
          <a:bodyPr/>
          <a:lstStyle/>
          <a:p>
            <a:endParaRPr lang="en-IN"/>
          </a:p>
        </p:txBody>
      </p:sp>
      <p:sp>
        <p:nvSpPr>
          <p:cNvPr id="24" name="Shape 21"/>
          <p:cNvSpPr/>
          <p:nvPr/>
        </p:nvSpPr>
        <p:spPr>
          <a:xfrm>
            <a:off x="3108960" y="2377440"/>
            <a:ext cx="0" cy="667512"/>
          </a:xfrm>
          <a:prstGeom prst="line">
            <a:avLst/>
          </a:prstGeom>
          <a:noFill/>
          <a:ln w="19050">
            <a:solidFill>
              <a:srgbClr val="55606E"/>
            </a:solidFill>
            <a:prstDash val="solid"/>
            <a:tailEnd type="triangle"/>
          </a:ln>
        </p:spPr>
        <p:txBody>
          <a:bodyPr/>
          <a:lstStyle/>
          <a:p>
            <a:endParaRPr lang="en-IN"/>
          </a:p>
        </p:txBody>
      </p:sp>
      <p:sp>
        <p:nvSpPr>
          <p:cNvPr id="25" name="Shape 22"/>
          <p:cNvSpPr/>
          <p:nvPr/>
        </p:nvSpPr>
        <p:spPr>
          <a:xfrm>
            <a:off x="3840480" y="3447288"/>
            <a:ext cx="347472" cy="0"/>
          </a:xfrm>
          <a:prstGeom prst="line">
            <a:avLst/>
          </a:prstGeom>
          <a:noFill/>
          <a:ln w="19050">
            <a:solidFill>
              <a:srgbClr val="55606E"/>
            </a:solidFill>
            <a:prstDash val="solid"/>
            <a:tailEnd type="triangle"/>
          </a:ln>
        </p:spPr>
        <p:txBody>
          <a:bodyPr/>
          <a:lstStyle/>
          <a:p>
            <a:endParaRPr lang="en-IN"/>
          </a:p>
        </p:txBody>
      </p:sp>
      <p:sp>
        <p:nvSpPr>
          <p:cNvPr id="26" name="Shape 23"/>
          <p:cNvSpPr/>
          <p:nvPr/>
        </p:nvSpPr>
        <p:spPr>
          <a:xfrm>
            <a:off x="5166360" y="2377440"/>
            <a:ext cx="0" cy="667512"/>
          </a:xfrm>
          <a:prstGeom prst="line">
            <a:avLst/>
          </a:prstGeom>
          <a:noFill/>
          <a:ln w="19050">
            <a:solidFill>
              <a:srgbClr val="55606E"/>
            </a:solidFill>
            <a:prstDash val="solid"/>
            <a:tailEnd type="triangle"/>
          </a:ln>
        </p:spPr>
        <p:txBody>
          <a:bodyPr/>
          <a:lstStyle/>
          <a:p>
            <a:endParaRPr lang="en-IN"/>
          </a:p>
        </p:txBody>
      </p:sp>
      <p:sp>
        <p:nvSpPr>
          <p:cNvPr id="27" name="Shape 24"/>
          <p:cNvSpPr/>
          <p:nvPr/>
        </p:nvSpPr>
        <p:spPr>
          <a:xfrm>
            <a:off x="4892040" y="3840480"/>
            <a:ext cx="0" cy="667512"/>
          </a:xfrm>
          <a:prstGeom prst="line">
            <a:avLst/>
          </a:prstGeom>
          <a:noFill/>
          <a:ln w="19050">
            <a:solidFill>
              <a:srgbClr val="55606E"/>
            </a:solidFill>
            <a:prstDash val="solid"/>
            <a:tailEnd type="triangle"/>
          </a:ln>
        </p:spPr>
        <p:txBody>
          <a:bodyPr/>
          <a:lstStyle/>
          <a:p>
            <a:endParaRPr lang="en-IN"/>
          </a:p>
        </p:txBody>
      </p:sp>
      <p:sp>
        <p:nvSpPr>
          <p:cNvPr id="28" name="Shape 25"/>
          <p:cNvSpPr/>
          <p:nvPr/>
        </p:nvSpPr>
        <p:spPr>
          <a:xfrm flipV="1">
            <a:off x="5440680" y="3858768"/>
            <a:ext cx="0" cy="649224"/>
          </a:xfrm>
          <a:prstGeom prst="line">
            <a:avLst/>
          </a:prstGeom>
          <a:noFill/>
          <a:ln w="19050">
            <a:solidFill>
              <a:srgbClr val="55606E"/>
            </a:solidFill>
            <a:prstDash val="solid"/>
            <a:tailEnd type="triangle"/>
          </a:ln>
        </p:spPr>
        <p:txBody>
          <a:bodyPr/>
          <a:lstStyle/>
          <a:p>
            <a:endParaRPr lang="en-IN"/>
          </a:p>
        </p:txBody>
      </p:sp>
      <p:sp>
        <p:nvSpPr>
          <p:cNvPr id="29" name="Shape 26"/>
          <p:cNvSpPr/>
          <p:nvPr/>
        </p:nvSpPr>
        <p:spPr>
          <a:xfrm>
            <a:off x="6126480" y="3447288"/>
            <a:ext cx="347472" cy="0"/>
          </a:xfrm>
          <a:prstGeom prst="line">
            <a:avLst/>
          </a:prstGeom>
          <a:noFill/>
          <a:ln w="19050">
            <a:solidFill>
              <a:srgbClr val="55606E"/>
            </a:solidFill>
            <a:prstDash val="solid"/>
            <a:tailEnd type="triangle"/>
          </a:ln>
        </p:spPr>
        <p:txBody>
          <a:bodyPr/>
          <a:lstStyle/>
          <a:p>
            <a:endParaRPr lang="en-IN"/>
          </a:p>
        </p:txBody>
      </p:sp>
      <p:sp>
        <p:nvSpPr>
          <p:cNvPr id="30" name="Shape 27"/>
          <p:cNvSpPr/>
          <p:nvPr/>
        </p:nvSpPr>
        <p:spPr>
          <a:xfrm flipV="1">
            <a:off x="7955280" y="2715768"/>
            <a:ext cx="301752" cy="576072"/>
          </a:xfrm>
          <a:prstGeom prst="line">
            <a:avLst/>
          </a:prstGeom>
          <a:noFill/>
          <a:ln w="19050">
            <a:solidFill>
              <a:srgbClr val="55606E"/>
            </a:solidFill>
            <a:prstDash val="solid"/>
            <a:tailEnd type="triangle"/>
          </a:ln>
        </p:spPr>
        <p:txBody>
          <a:bodyPr/>
          <a:lstStyle/>
          <a:p>
            <a:endParaRPr lang="en-IN"/>
          </a:p>
        </p:txBody>
      </p:sp>
      <p:sp>
        <p:nvSpPr>
          <p:cNvPr id="31" name="Shape 28"/>
          <p:cNvSpPr/>
          <p:nvPr/>
        </p:nvSpPr>
        <p:spPr>
          <a:xfrm>
            <a:off x="7955280" y="3611880"/>
            <a:ext cx="301752" cy="576072"/>
          </a:xfrm>
          <a:prstGeom prst="line">
            <a:avLst/>
          </a:prstGeom>
          <a:noFill/>
          <a:ln w="19050">
            <a:solidFill>
              <a:srgbClr val="55606E"/>
            </a:solidFill>
            <a:prstDash val="solid"/>
            <a:tailEnd type="triangle"/>
          </a:ln>
        </p:spPr>
        <p:txBody>
          <a:bodyPr/>
          <a:lstStyle/>
          <a:p>
            <a:endParaRPr lang="en-IN"/>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dirty="0"/>
              <a:t>Spark setup</a:t>
            </a:r>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
        <p:nvSpPr>
          <p:cNvPr id="32" name="Rectangle: Rounded Corners 31">
            <a:extLst>
              <a:ext uri="{FF2B5EF4-FFF2-40B4-BE49-F238E27FC236}">
                <a16:creationId xmlns:a16="http://schemas.microsoft.com/office/drawing/2014/main" id="{1406FC6D-34A6-DD7D-EE8B-C8DC935CB6E3}"/>
              </a:ext>
            </a:extLst>
          </p:cNvPr>
          <p:cNvSpPr/>
          <p:nvPr/>
        </p:nvSpPr>
        <p:spPr>
          <a:xfrm>
            <a:off x="548640" y="1463040"/>
            <a:ext cx="2468880" cy="155448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5D099FE0-C68C-8A02-90C4-067F2942B387}"/>
              </a:ext>
            </a:extLst>
          </p:cNvPr>
          <p:cNvSpPr txBox="1"/>
          <p:nvPr/>
        </p:nvSpPr>
        <p:spPr>
          <a:xfrm>
            <a:off x="777240" y="1691640"/>
            <a:ext cx="2103120" cy="276999"/>
          </a:xfrm>
          <a:prstGeom prst="rect">
            <a:avLst/>
          </a:prstGeom>
          <a:noFill/>
        </p:spPr>
        <p:txBody>
          <a:bodyPr vert="horz" wrap="square" lIns="0" tIns="0" rIns="0" bIns="0" rtlCol="0">
            <a:noAutofit/>
          </a:bodyPr>
          <a:lstStyle/>
          <a:p>
            <a:r>
              <a:rPr lang="en-IN" sz="3000" b="1">
                <a:solidFill>
                  <a:srgbClr val="2E8B7A"/>
                </a:solidFill>
                <a:latin typeface="Cambria" panose="02040503050406030204" pitchFamily="18" charset="0"/>
              </a:rPr>
              <a:t>6 cores</a:t>
            </a:r>
          </a:p>
        </p:txBody>
      </p:sp>
      <p:sp>
        <p:nvSpPr>
          <p:cNvPr id="34" name="TextBox 33">
            <a:extLst>
              <a:ext uri="{FF2B5EF4-FFF2-40B4-BE49-F238E27FC236}">
                <a16:creationId xmlns:a16="http://schemas.microsoft.com/office/drawing/2014/main" id="{8E43A13F-32D1-5BCE-BB18-6FC36CA70C8B}"/>
              </a:ext>
            </a:extLst>
          </p:cNvPr>
          <p:cNvSpPr txBox="1"/>
          <p:nvPr/>
        </p:nvSpPr>
        <p:spPr>
          <a:xfrm>
            <a:off x="777240" y="2377440"/>
            <a:ext cx="2103120" cy="276999"/>
          </a:xfrm>
          <a:prstGeom prst="rect">
            <a:avLst/>
          </a:prstGeom>
          <a:noFill/>
        </p:spPr>
        <p:txBody>
          <a:bodyPr vert="horz" wrap="square" lIns="0" tIns="0" rIns="0" bIns="0" rtlCol="0">
            <a:noAutofit/>
          </a:bodyPr>
          <a:lstStyle/>
          <a:p>
            <a:r>
              <a:rPr lang="en-IN" sz="1400">
                <a:solidFill>
                  <a:srgbClr val="1C2430"/>
                </a:solidFill>
                <a:latin typeface="Calibri" panose="020F0502020204030204" pitchFamily="34" charset="0"/>
              </a:rPr>
              <a:t>on 1 Spark worker</a:t>
            </a:r>
          </a:p>
        </p:txBody>
      </p:sp>
      <p:sp>
        <p:nvSpPr>
          <p:cNvPr id="35" name="Rectangle: Rounded Corners 34">
            <a:extLst>
              <a:ext uri="{FF2B5EF4-FFF2-40B4-BE49-F238E27FC236}">
                <a16:creationId xmlns:a16="http://schemas.microsoft.com/office/drawing/2014/main" id="{8948AEB1-BC89-4A34-46BB-A08B2777E532}"/>
              </a:ext>
            </a:extLst>
          </p:cNvPr>
          <p:cNvSpPr/>
          <p:nvPr/>
        </p:nvSpPr>
        <p:spPr>
          <a:xfrm>
            <a:off x="3246120" y="1463040"/>
            <a:ext cx="2468880" cy="155448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TextBox 35">
            <a:extLst>
              <a:ext uri="{FF2B5EF4-FFF2-40B4-BE49-F238E27FC236}">
                <a16:creationId xmlns:a16="http://schemas.microsoft.com/office/drawing/2014/main" id="{3950B76B-37E9-D81F-6992-0BCA55A1106D}"/>
              </a:ext>
            </a:extLst>
          </p:cNvPr>
          <p:cNvSpPr txBox="1"/>
          <p:nvPr/>
        </p:nvSpPr>
        <p:spPr>
          <a:xfrm>
            <a:off x="3474720" y="1691640"/>
            <a:ext cx="2103120" cy="276999"/>
          </a:xfrm>
          <a:prstGeom prst="rect">
            <a:avLst/>
          </a:prstGeom>
          <a:noFill/>
        </p:spPr>
        <p:txBody>
          <a:bodyPr vert="horz" wrap="square" lIns="0" tIns="0" rIns="0" bIns="0" rtlCol="0">
            <a:noAutofit/>
          </a:bodyPr>
          <a:lstStyle/>
          <a:p>
            <a:r>
              <a:rPr lang="en-IN" sz="3000" b="1">
                <a:solidFill>
                  <a:srgbClr val="2E8B7A"/>
                </a:solidFill>
                <a:latin typeface="Cambria" panose="02040503050406030204" pitchFamily="18" charset="0"/>
              </a:rPr>
              <a:t>5 GB</a:t>
            </a:r>
          </a:p>
        </p:txBody>
      </p:sp>
      <p:sp>
        <p:nvSpPr>
          <p:cNvPr id="37" name="TextBox 36">
            <a:extLst>
              <a:ext uri="{FF2B5EF4-FFF2-40B4-BE49-F238E27FC236}">
                <a16:creationId xmlns:a16="http://schemas.microsoft.com/office/drawing/2014/main" id="{9F1DB586-15DF-29AA-95FB-F216D9FDB53D}"/>
              </a:ext>
            </a:extLst>
          </p:cNvPr>
          <p:cNvSpPr txBox="1"/>
          <p:nvPr/>
        </p:nvSpPr>
        <p:spPr>
          <a:xfrm>
            <a:off x="3474720" y="2377440"/>
            <a:ext cx="2103120" cy="276999"/>
          </a:xfrm>
          <a:prstGeom prst="rect">
            <a:avLst/>
          </a:prstGeom>
          <a:noFill/>
        </p:spPr>
        <p:txBody>
          <a:bodyPr vert="horz" wrap="square" lIns="0" tIns="0" rIns="0" bIns="0" rtlCol="0">
            <a:noAutofit/>
          </a:bodyPr>
          <a:lstStyle/>
          <a:p>
            <a:r>
              <a:rPr lang="en-IN" sz="1400">
                <a:solidFill>
                  <a:srgbClr val="1C2430"/>
                </a:solidFill>
                <a:latin typeface="Calibri" panose="020F0502020204030204" pitchFamily="34" charset="0"/>
              </a:rPr>
              <a:t>memory for that worker</a:t>
            </a:r>
          </a:p>
        </p:txBody>
      </p:sp>
      <p:sp>
        <p:nvSpPr>
          <p:cNvPr id="38" name="Rectangle: Rounded Corners 37">
            <a:extLst>
              <a:ext uri="{FF2B5EF4-FFF2-40B4-BE49-F238E27FC236}">
                <a16:creationId xmlns:a16="http://schemas.microsoft.com/office/drawing/2014/main" id="{F8905DCE-F981-27FD-3064-FADF08FF490E}"/>
              </a:ext>
            </a:extLst>
          </p:cNvPr>
          <p:cNvSpPr/>
          <p:nvPr/>
        </p:nvSpPr>
        <p:spPr>
          <a:xfrm>
            <a:off x="548640" y="3291840"/>
            <a:ext cx="2468880" cy="155448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9" name="TextBox 38">
            <a:extLst>
              <a:ext uri="{FF2B5EF4-FFF2-40B4-BE49-F238E27FC236}">
                <a16:creationId xmlns:a16="http://schemas.microsoft.com/office/drawing/2014/main" id="{28560BBD-F10E-2C0F-3324-9607D2D6D4B5}"/>
              </a:ext>
            </a:extLst>
          </p:cNvPr>
          <p:cNvSpPr txBox="1"/>
          <p:nvPr/>
        </p:nvSpPr>
        <p:spPr>
          <a:xfrm>
            <a:off x="777240" y="3520440"/>
            <a:ext cx="2103120" cy="276999"/>
          </a:xfrm>
          <a:prstGeom prst="rect">
            <a:avLst/>
          </a:prstGeom>
          <a:noFill/>
        </p:spPr>
        <p:txBody>
          <a:bodyPr vert="horz" wrap="square" lIns="0" tIns="0" rIns="0" bIns="0" rtlCol="0">
            <a:noAutofit/>
          </a:bodyPr>
          <a:lstStyle/>
          <a:p>
            <a:r>
              <a:rPr lang="en-IN" sz="3000" b="1">
                <a:solidFill>
                  <a:srgbClr val="2E8B7A"/>
                </a:solidFill>
                <a:latin typeface="Cambria" panose="02040503050406030204" pitchFamily="18" charset="0"/>
              </a:rPr>
              <a:t>2 executors</a:t>
            </a:r>
          </a:p>
        </p:txBody>
      </p:sp>
      <p:sp>
        <p:nvSpPr>
          <p:cNvPr id="40" name="TextBox 39">
            <a:extLst>
              <a:ext uri="{FF2B5EF4-FFF2-40B4-BE49-F238E27FC236}">
                <a16:creationId xmlns:a16="http://schemas.microsoft.com/office/drawing/2014/main" id="{CB57E1E0-0DA4-F7B9-3B9F-9A378B9CCFB4}"/>
              </a:ext>
            </a:extLst>
          </p:cNvPr>
          <p:cNvSpPr txBox="1"/>
          <p:nvPr/>
        </p:nvSpPr>
        <p:spPr>
          <a:xfrm>
            <a:off x="777240" y="4206240"/>
            <a:ext cx="2103120" cy="276999"/>
          </a:xfrm>
          <a:prstGeom prst="rect">
            <a:avLst/>
          </a:prstGeom>
          <a:noFill/>
        </p:spPr>
        <p:txBody>
          <a:bodyPr vert="horz" wrap="square" lIns="0" tIns="0" rIns="0" bIns="0" rtlCol="0">
            <a:noAutofit/>
          </a:bodyPr>
          <a:lstStyle/>
          <a:p>
            <a:r>
              <a:rPr lang="en-US" sz="1400">
                <a:solidFill>
                  <a:srgbClr val="1C2430"/>
                </a:solidFill>
                <a:latin typeface="Calibri" panose="020F0502020204030204" pitchFamily="34" charset="0"/>
              </a:rPr>
              <a:t>3 cores and 2,500 MB each</a:t>
            </a:r>
            <a:endParaRPr lang="en-IN" sz="1400">
              <a:solidFill>
                <a:srgbClr val="1C2430"/>
              </a:solidFill>
              <a:latin typeface="Calibri" panose="020F0502020204030204" pitchFamily="34" charset="0"/>
            </a:endParaRPr>
          </a:p>
        </p:txBody>
      </p:sp>
      <p:sp>
        <p:nvSpPr>
          <p:cNvPr id="41" name="Rectangle: Rounded Corners 40">
            <a:extLst>
              <a:ext uri="{FF2B5EF4-FFF2-40B4-BE49-F238E27FC236}">
                <a16:creationId xmlns:a16="http://schemas.microsoft.com/office/drawing/2014/main" id="{CD66A01F-AF26-6F4E-8138-8EB3FD54BBDA}"/>
              </a:ext>
            </a:extLst>
          </p:cNvPr>
          <p:cNvSpPr/>
          <p:nvPr/>
        </p:nvSpPr>
        <p:spPr>
          <a:xfrm>
            <a:off x="3246120" y="3291840"/>
            <a:ext cx="2468880" cy="1554480"/>
          </a:xfrm>
          <a:prstGeom prst="roundRect">
            <a:avLst>
              <a:gd name="adj" fmla="val 8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2" name="TextBox 41">
            <a:extLst>
              <a:ext uri="{FF2B5EF4-FFF2-40B4-BE49-F238E27FC236}">
                <a16:creationId xmlns:a16="http://schemas.microsoft.com/office/drawing/2014/main" id="{71DAF3CC-4BDE-2F41-9A3A-26E6F43A1FB5}"/>
              </a:ext>
            </a:extLst>
          </p:cNvPr>
          <p:cNvSpPr txBox="1"/>
          <p:nvPr/>
        </p:nvSpPr>
        <p:spPr>
          <a:xfrm>
            <a:off x="3474720" y="3520440"/>
            <a:ext cx="2103120" cy="276999"/>
          </a:xfrm>
          <a:prstGeom prst="rect">
            <a:avLst/>
          </a:prstGeom>
          <a:noFill/>
        </p:spPr>
        <p:txBody>
          <a:bodyPr vert="horz" wrap="square" lIns="0" tIns="0" rIns="0" bIns="0" rtlCol="0">
            <a:noAutofit/>
          </a:bodyPr>
          <a:lstStyle/>
          <a:p>
            <a:r>
              <a:rPr lang="en-IN" sz="3000" b="1">
                <a:solidFill>
                  <a:srgbClr val="2E8B7A"/>
                </a:solidFill>
                <a:latin typeface="Cambria" panose="02040503050406030204" pitchFamily="18" charset="0"/>
              </a:rPr>
              <a:t>2 GB</a:t>
            </a:r>
          </a:p>
        </p:txBody>
      </p:sp>
      <p:sp>
        <p:nvSpPr>
          <p:cNvPr id="43" name="TextBox 42">
            <a:extLst>
              <a:ext uri="{FF2B5EF4-FFF2-40B4-BE49-F238E27FC236}">
                <a16:creationId xmlns:a16="http://schemas.microsoft.com/office/drawing/2014/main" id="{6111003F-C92F-D6B3-FC16-56FF63AD6493}"/>
              </a:ext>
            </a:extLst>
          </p:cNvPr>
          <p:cNvSpPr txBox="1"/>
          <p:nvPr/>
        </p:nvSpPr>
        <p:spPr>
          <a:xfrm>
            <a:off x="3474720" y="4206240"/>
            <a:ext cx="2103120" cy="276999"/>
          </a:xfrm>
          <a:prstGeom prst="rect">
            <a:avLst/>
          </a:prstGeom>
          <a:noFill/>
        </p:spPr>
        <p:txBody>
          <a:bodyPr vert="horz" wrap="square" lIns="0" tIns="0" rIns="0" bIns="0" rtlCol="0">
            <a:noAutofit/>
          </a:bodyPr>
          <a:lstStyle/>
          <a:p>
            <a:r>
              <a:rPr lang="en-US" sz="1400">
                <a:solidFill>
                  <a:srgbClr val="1C2430"/>
                </a:solidFill>
                <a:latin typeface="Calibri" panose="020F0502020204030204" pitchFamily="34" charset="0"/>
              </a:rPr>
              <a:t>for the driver, in client mode</a:t>
            </a:r>
            <a:endParaRPr lang="en-IN" sz="1400">
              <a:solidFill>
                <a:srgbClr val="1C2430"/>
              </a:solidFill>
              <a:latin typeface="Calibri" panose="020F0502020204030204" pitchFamily="34" charset="0"/>
            </a:endParaRPr>
          </a:p>
        </p:txBody>
      </p:sp>
    </p:spTree>
    <p:extLst>
      <p:ext uri="{BB962C8B-B14F-4D97-AF65-F5344CB8AC3E}">
        <p14:creationId xmlns:p14="http://schemas.microsoft.com/office/powerpoint/2010/main" val="15131472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Spark workflow: DataFrame jobs, partitions, DAG and caching</a:t>
            </a:r>
            <a:endParaRPr lang="en-US" sz="30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graphicFrame>
        <p:nvGraphicFramePr>
          <p:cNvPr id="4" name="Table 3">
            <a:extLst>
              <a:ext uri="{FF2B5EF4-FFF2-40B4-BE49-F238E27FC236}">
                <a16:creationId xmlns:a16="http://schemas.microsoft.com/office/drawing/2014/main" id="{B50F6012-CA6E-F6F8-85D4-75CF2BF26ABB}"/>
              </a:ext>
            </a:extLst>
          </p:cNvPr>
          <p:cNvGraphicFramePr>
            <a:graphicFrameLocks noGrp="1"/>
          </p:cNvGraphicFramePr>
          <p:nvPr>
            <p:extLst>
              <p:ext uri="{D42A27DB-BD31-4B8C-83A1-F6EECF244321}">
                <p14:modId xmlns:p14="http://schemas.microsoft.com/office/powerpoint/2010/main" val="456961701"/>
              </p:ext>
            </p:extLst>
          </p:nvPr>
        </p:nvGraphicFramePr>
        <p:xfrm>
          <a:off x="548640" y="1325880"/>
          <a:ext cx="8229600" cy="1996440"/>
        </p:xfrm>
        <a:graphic>
          <a:graphicData uri="http://schemas.openxmlformats.org/drawingml/2006/table">
            <a:tbl>
              <a:tblPr firstRow="1" bandRow="1">
                <a:tableStyleId>{5C22544A-7EE6-4342-B048-85BDC9FD1C3A}</a:tableStyleId>
              </a:tblPr>
              <a:tblGrid>
                <a:gridCol w="1325880">
                  <a:extLst>
                    <a:ext uri="{9D8B030D-6E8A-4147-A177-3AD203B41FA5}">
                      <a16:colId xmlns:a16="http://schemas.microsoft.com/office/drawing/2014/main" val="1156205382"/>
                    </a:ext>
                  </a:extLst>
                </a:gridCol>
                <a:gridCol w="3429000">
                  <a:extLst>
                    <a:ext uri="{9D8B030D-6E8A-4147-A177-3AD203B41FA5}">
                      <a16:colId xmlns:a16="http://schemas.microsoft.com/office/drawing/2014/main" val="1980839184"/>
                    </a:ext>
                  </a:extLst>
                </a:gridCol>
                <a:gridCol w="1417320">
                  <a:extLst>
                    <a:ext uri="{9D8B030D-6E8A-4147-A177-3AD203B41FA5}">
                      <a16:colId xmlns:a16="http://schemas.microsoft.com/office/drawing/2014/main" val="3117051897"/>
                    </a:ext>
                  </a:extLst>
                </a:gridCol>
                <a:gridCol w="2057400">
                  <a:extLst>
                    <a:ext uri="{9D8B030D-6E8A-4147-A177-3AD203B41FA5}">
                      <a16:colId xmlns:a16="http://schemas.microsoft.com/office/drawing/2014/main" val="3771157078"/>
                    </a:ext>
                  </a:extLst>
                </a:gridCol>
              </a:tblGrid>
              <a:tr h="256032">
                <a:tc>
                  <a:txBody>
                    <a:bodyPr/>
                    <a:lstStyle/>
                    <a:p>
                      <a:r>
                        <a:rPr lang="en-IN" sz="1200" b="1">
                          <a:solidFill>
                            <a:srgbClr val="FFFFFF"/>
                          </a:solidFill>
                          <a:latin typeface="Calibri" panose="020F0502020204030204" pitchFamily="34" charset="0"/>
                        </a:rPr>
                        <a:t>Job</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a:solidFill>
                            <a:srgbClr val="FFFFFF"/>
                          </a:solidFill>
                          <a:latin typeface="Calibri" panose="020F0502020204030204" pitchFamily="34" charset="0"/>
                        </a:rPr>
                        <a:t>Main DataFrame operations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a:solidFill>
                            <a:srgbClr val="FFFFFF"/>
                          </a:solidFill>
                          <a:latin typeface="Calibri" panose="020F0502020204030204" pitchFamily="34" charset="0"/>
                        </a:rPr>
                        <a:t>Input partitions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200" b="1" dirty="0">
                          <a:solidFill>
                            <a:srgbClr val="FFFFFF"/>
                          </a:solidFill>
                          <a:latin typeface="Calibri" panose="020F0502020204030204" pitchFamily="34" charset="0"/>
                        </a:rPr>
                        <a:t>Shuffle partitions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extLst>
                  <a:ext uri="{0D108BD9-81ED-4DB2-BD59-A6C34878D82A}">
                    <a16:rowId xmlns:a16="http://schemas.microsoft.com/office/drawing/2014/main" val="791430917"/>
                  </a:ext>
                </a:extLst>
              </a:tr>
              <a:tr h="256032">
                <a:tc>
                  <a:txBody>
                    <a:bodyPr/>
                    <a:lstStyle/>
                    <a:p>
                      <a:r>
                        <a:rPr lang="en-IN" sz="1200" b="1">
                          <a:solidFill>
                            <a:srgbClr val="1C2430"/>
                          </a:solidFill>
                          <a:latin typeface="Calibri" panose="020F0502020204030204" pitchFamily="34" charset="0"/>
                        </a:rPr>
                        <a:t>BuildBronze</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read CSV + JSON, unionByName, write by day</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413</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24</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839577932"/>
                  </a:ext>
                </a:extLst>
              </a:tr>
              <a:tr h="256032">
                <a:tc>
                  <a:txBody>
                    <a:bodyPr/>
                    <a:lstStyle/>
                    <a:p>
                      <a:r>
                        <a:rPr lang="en-IN" sz="1200" b="1">
                          <a:solidFill>
                            <a:srgbClr val="1C2430"/>
                          </a:solidFill>
                          <a:latin typeface="Calibri" panose="020F0502020204030204" pitchFamily="34" charset="0"/>
                        </a:rPr>
                        <a:t>BuildSilver</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groupBy connection key, 32 formulas, join medians</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41</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96 (7.31 GB shuffled)</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111929023"/>
                  </a:ext>
                </a:extLst>
              </a:tr>
              <a:tr h="256032">
                <a:tc>
                  <a:txBody>
                    <a:bodyPr/>
                    <a:lstStyle/>
                    <a:p>
                      <a:r>
                        <a:rPr lang="en-IN" sz="1200" b="1">
                          <a:solidFill>
                            <a:srgbClr val="1C2430"/>
                          </a:solidFill>
                          <a:latin typeface="Calibri" panose="020F0502020204030204" pitchFamily="34" charset="0"/>
                        </a:rPr>
                        <a:t>BuildFeatures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groupBy all 55 features, hash split, persist(DISK_ONLY)</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41</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96 (9.09 GB shuffled)</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667146447"/>
                  </a:ext>
                </a:extLst>
              </a:tr>
              <a:tr h="256032">
                <a:tc>
                  <a:txBody>
                    <a:bodyPr/>
                    <a:lstStyle/>
                    <a:p>
                      <a:r>
                        <a:rPr lang="en-IN" sz="1200" b="1">
                          <a:solidFill>
                            <a:srgbClr val="1C2430"/>
                          </a:solidFill>
                          <a:latin typeface="Calibri" panose="020F0502020204030204" pitchFamily="34" charset="0"/>
                        </a:rPr>
                        <a:t>Training</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cached; one job per iteration or tree level</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11</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96</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393861509"/>
                  </a:ext>
                </a:extLst>
              </a:tr>
              <a:tr h="256032">
                <a:tc>
                  <a:txBody>
                    <a:bodyPr/>
                    <a:lstStyle/>
                    <a:p>
                      <a:r>
                        <a:rPr lang="en-IN" sz="1200" b="1">
                          <a:solidFill>
                            <a:srgbClr val="1C2430"/>
                          </a:solidFill>
                          <a:latin typeface="Calibri" panose="020F0502020204030204" pitchFamily="34" charset="0"/>
                        </a:rPr>
                        <a:t>BuildGate</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sample 1 M rows, StandardScaler, KMeans k = 50</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7</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200" b="0">
                          <a:solidFill>
                            <a:srgbClr val="1C2430"/>
                          </a:solidFill>
                          <a:latin typeface="Calibri" panose="020F0502020204030204" pitchFamily="34" charset="0"/>
                        </a:rPr>
                        <a:t>24</a:t>
                      </a:r>
                      <a:endParaRPr lang="en-IN" sz="12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2969547081"/>
                  </a:ext>
                </a:extLst>
              </a:tr>
              <a:tr h="256032">
                <a:tc>
                  <a:txBody>
                    <a:bodyPr/>
                    <a:lstStyle/>
                    <a:p>
                      <a:r>
                        <a:rPr lang="en-IN" sz="1200" b="1">
                          <a:solidFill>
                            <a:srgbClr val="1C2430"/>
                          </a:solidFill>
                          <a:latin typeface="Calibri" panose="020F0502020204030204" pitchFamily="34" charset="0"/>
                        </a:rPr>
                        <a:t>LiveScorer</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a:solidFill>
                            <a:srgbClr val="1C2430"/>
                          </a:solidFill>
                          <a:latin typeface="Calibri" panose="020F0502020204030204" pitchFamily="34" charset="0"/>
                        </a:rPr>
                        <a:t>readStream Kafka, localCheckpoint, foreachBatch</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6 per tick</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200" b="0" dirty="0">
                          <a:solidFill>
                            <a:srgbClr val="1C2430"/>
                          </a:solidFill>
                          <a:latin typeface="Calibri" panose="020F0502020204030204" pitchFamily="34" charset="0"/>
                        </a:rPr>
                        <a:t>6</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4137423574"/>
                  </a:ext>
                </a:extLst>
              </a:tr>
            </a:tbl>
          </a:graphicData>
        </a:graphic>
      </p:graphicFrame>
      <p:sp>
        <p:nvSpPr>
          <p:cNvPr id="5" name="TextBox 4">
            <a:extLst>
              <a:ext uri="{FF2B5EF4-FFF2-40B4-BE49-F238E27FC236}">
                <a16:creationId xmlns:a16="http://schemas.microsoft.com/office/drawing/2014/main" id="{8C01EC32-CF5F-8B21-5FF0-B86A3B7F0240}"/>
              </a:ext>
            </a:extLst>
          </p:cNvPr>
          <p:cNvSpPr txBox="1"/>
          <p:nvPr/>
        </p:nvSpPr>
        <p:spPr>
          <a:xfrm>
            <a:off x="548640" y="3611880"/>
            <a:ext cx="8229600" cy="276999"/>
          </a:xfrm>
          <a:prstGeom prst="rect">
            <a:avLst/>
          </a:prstGeom>
          <a:noFill/>
        </p:spPr>
        <p:txBody>
          <a:bodyPr vert="horz" wrap="square" lIns="0" tIns="0" rIns="0" bIns="0" rtlCol="0">
            <a:noAutofit/>
          </a:bodyPr>
          <a:lstStyle/>
          <a:p>
            <a:r>
              <a:rPr lang="en-IN" sz="1600" b="1">
                <a:solidFill>
                  <a:srgbClr val="2E8B7A"/>
                </a:solidFill>
                <a:latin typeface="Calibri" panose="020F0502020204030204" pitchFamily="34" charset="0"/>
              </a:rPr>
              <a:t>Why these choices</a:t>
            </a:r>
          </a:p>
        </p:txBody>
      </p:sp>
      <p:sp>
        <p:nvSpPr>
          <p:cNvPr id="6" name="TextBox 5">
            <a:extLst>
              <a:ext uri="{FF2B5EF4-FFF2-40B4-BE49-F238E27FC236}">
                <a16:creationId xmlns:a16="http://schemas.microsoft.com/office/drawing/2014/main" id="{A8AA451B-9F63-AD3F-77F3-0FAA242BB92D}"/>
              </a:ext>
            </a:extLst>
          </p:cNvPr>
          <p:cNvSpPr txBox="1"/>
          <p:nvPr/>
        </p:nvSpPr>
        <p:spPr>
          <a:xfrm>
            <a:off x="548640" y="3977640"/>
            <a:ext cx="822960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dirty="0">
                <a:solidFill>
                  <a:srgbClr val="1C2430"/>
                </a:solidFill>
                <a:latin typeface="Calibri" panose="020F0502020204030204" pitchFamily="34" charset="0"/>
              </a:rPr>
              <a:t>Shuffle partitions lowered from 200 to 24, about 4 tasks per core; 96 for the two jobs that shuffle 7 to 9 GB, so each task stays under 100 MB</a:t>
            </a:r>
          </a:p>
          <a:p>
            <a:pPr marL="177800" indent="-177800">
              <a:spcAft>
                <a:spcPts val="400"/>
              </a:spcAft>
              <a:buFont typeface="+mj-lt"/>
              <a:buChar char="•"/>
            </a:pPr>
            <a:r>
              <a:rPr lang="en-US" sz="1300" dirty="0">
                <a:solidFill>
                  <a:srgbClr val="1C2430"/>
                </a:solidFill>
                <a:latin typeface="Calibri" panose="020F0502020204030204" pitchFamily="34" charset="0"/>
              </a:rPr>
              <a:t>Every shuffle (</a:t>
            </a:r>
            <a:r>
              <a:rPr lang="en-US" sz="1300" dirty="0" err="1">
                <a:solidFill>
                  <a:srgbClr val="1C2430"/>
                </a:solidFill>
                <a:latin typeface="Calibri" panose="020F0502020204030204" pitchFamily="34" charset="0"/>
              </a:rPr>
              <a:t>groupBy</a:t>
            </a:r>
            <a:r>
              <a:rPr lang="en-US" sz="1300" dirty="0">
                <a:solidFill>
                  <a:srgbClr val="1C2430"/>
                </a:solidFill>
                <a:latin typeface="Calibri" panose="020F0502020204030204" pitchFamily="34" charset="0"/>
              </a:rPr>
              <a:t>, join) starts a new stage; skipped stages are shuffle output reused by a later job</a:t>
            </a:r>
          </a:p>
          <a:p>
            <a:pPr marL="177800" indent="-177800">
              <a:spcAft>
                <a:spcPts val="400"/>
              </a:spcAft>
              <a:buFont typeface="+mj-lt"/>
              <a:buChar char="•"/>
            </a:pPr>
            <a:r>
              <a:rPr lang="en-US" sz="1300" dirty="0">
                <a:solidFill>
                  <a:srgbClr val="1C2430"/>
                </a:solidFill>
                <a:latin typeface="Calibri" panose="020F0502020204030204" pitchFamily="34" charset="0"/>
              </a:rPr>
              <a:t>Cache only what is read more than once: DISK_ONLY when read twice and large, MEMORY_AND_DISK when read hundreds of times</a:t>
            </a:r>
          </a:p>
          <a:p>
            <a:pPr marL="177800" indent="-177800">
              <a:spcAft>
                <a:spcPts val="400"/>
              </a:spcAft>
              <a:buFont typeface="+mj-lt"/>
              <a:buChar char="•"/>
            </a:pPr>
            <a:r>
              <a:rPr lang="en-US" sz="1300" dirty="0">
                <a:solidFill>
                  <a:srgbClr val="1C2430"/>
                </a:solidFill>
                <a:latin typeface="Calibri" panose="020F0502020204030204" pitchFamily="34" charset="0"/>
              </a:rPr>
              <a:t>Parquet partitioned by day and split, so a job reads only the folders it needs</a:t>
            </a:r>
            <a:endParaRPr lang="en-IN" sz="1300" dirty="0">
              <a:solidFill>
                <a:srgbClr val="1C2430"/>
              </a:solidFill>
              <a:latin typeface="Calibri" panose="020F0502020204030204" pitchFamily="34" charset="0"/>
            </a:endParaRPr>
          </a:p>
        </p:txBody>
      </p:sp>
      <p:pic>
        <p:nvPicPr>
          <p:cNvPr id="8" name="Picture 7">
            <a:extLst>
              <a:ext uri="{FF2B5EF4-FFF2-40B4-BE49-F238E27FC236}">
                <a16:creationId xmlns:a16="http://schemas.microsoft.com/office/drawing/2014/main" id="{64A2512B-3FFC-E3CA-A16F-9CA718C6D450}"/>
              </a:ext>
            </a:extLst>
          </p:cNvPr>
          <p:cNvPicPr>
            <a:picLocks noChangeAspect="1"/>
          </p:cNvPicPr>
          <p:nvPr/>
        </p:nvPicPr>
        <p:blipFill>
          <a:blip r:embed="rId3"/>
          <a:stretch>
            <a:fillRect/>
          </a:stretch>
        </p:blipFill>
        <p:spPr>
          <a:xfrm>
            <a:off x="9497129" y="1325880"/>
            <a:ext cx="2143183" cy="4434840"/>
          </a:xfrm>
          <a:prstGeom prst="rect">
            <a:avLst/>
          </a:prstGeom>
        </p:spPr>
      </p:pic>
      <p:sp>
        <p:nvSpPr>
          <p:cNvPr id="9" name="TextBox 8">
            <a:extLst>
              <a:ext uri="{FF2B5EF4-FFF2-40B4-BE49-F238E27FC236}">
                <a16:creationId xmlns:a16="http://schemas.microsoft.com/office/drawing/2014/main" id="{4472C2AE-E37C-0AC6-D441-650C8B7DD388}"/>
              </a:ext>
            </a:extLst>
          </p:cNvPr>
          <p:cNvSpPr txBox="1"/>
          <p:nvPr/>
        </p:nvSpPr>
        <p:spPr>
          <a:xfrm>
            <a:off x="9006840" y="5852160"/>
            <a:ext cx="2651760" cy="276999"/>
          </a:xfrm>
          <a:prstGeom prst="rect">
            <a:avLst/>
          </a:prstGeom>
          <a:noFill/>
        </p:spPr>
        <p:txBody>
          <a:bodyPr vert="horz" wrap="square" lIns="0" tIns="0" rIns="0" bIns="0" rtlCol="0">
            <a:noAutofit/>
          </a:bodyPr>
          <a:lstStyle/>
          <a:p>
            <a:r>
              <a:rPr lang="en-US" sz="1000">
                <a:solidFill>
                  <a:srgbClr val="55606E"/>
                </a:solidFill>
                <a:latin typeface="Calibri" panose="020F0502020204030204" pitchFamily="34" charset="0"/>
              </a:rPr>
              <a:t>Spark UI: one training job, read from cache, summed with treeAggregate over 2 stages</a:t>
            </a:r>
            <a:endParaRPr lang="en-IN" sz="1000">
              <a:solidFill>
                <a:srgbClr val="55606E"/>
              </a:solidFill>
              <a:latin typeface="Calibri" panose="020F0502020204030204" pitchFamily="34" charset="0"/>
            </a:endParaRPr>
          </a:p>
        </p:txBody>
      </p:sp>
    </p:spTree>
    <p:extLst>
      <p:ext uri="{BB962C8B-B14F-4D97-AF65-F5344CB8AC3E}">
        <p14:creationId xmlns:p14="http://schemas.microsoft.com/office/powerpoint/2010/main" val="34251597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Scala implementation: project structure and key code</a:t>
            </a:r>
            <a:endParaRPr lang="en-US" sz="30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
        <p:nvSpPr>
          <p:cNvPr id="4" name="TextBox 3">
            <a:extLst>
              <a:ext uri="{FF2B5EF4-FFF2-40B4-BE49-F238E27FC236}">
                <a16:creationId xmlns:a16="http://schemas.microsoft.com/office/drawing/2014/main" id="{373539FF-07B8-2F8E-9154-4A9714080933}"/>
              </a:ext>
            </a:extLst>
          </p:cNvPr>
          <p:cNvSpPr txBox="1"/>
          <p:nvPr/>
        </p:nvSpPr>
        <p:spPr>
          <a:xfrm>
            <a:off x="548640" y="1325880"/>
            <a:ext cx="5120640" cy="276999"/>
          </a:xfrm>
          <a:prstGeom prst="rect">
            <a:avLst/>
          </a:prstGeom>
          <a:noFill/>
        </p:spPr>
        <p:txBody>
          <a:bodyPr vert="horz" wrap="square" lIns="0" tIns="0" rIns="0" bIns="0" rtlCol="0">
            <a:noAutofit/>
          </a:bodyPr>
          <a:lstStyle/>
          <a:p>
            <a:r>
              <a:rPr lang="en-IN" sz="1600" b="1">
                <a:solidFill>
                  <a:srgbClr val="2E8B7A"/>
                </a:solidFill>
                <a:latin typeface="Calibri" panose="020F0502020204030204" pitchFamily="34" charset="0"/>
              </a:rPr>
              <a:t>Project structure</a:t>
            </a:r>
          </a:p>
        </p:txBody>
      </p:sp>
      <p:sp>
        <p:nvSpPr>
          <p:cNvPr id="5" name="TextBox 4">
            <a:extLst>
              <a:ext uri="{FF2B5EF4-FFF2-40B4-BE49-F238E27FC236}">
                <a16:creationId xmlns:a16="http://schemas.microsoft.com/office/drawing/2014/main" id="{170164D5-AC87-DD2E-A83D-3150854A3E1C}"/>
              </a:ext>
            </a:extLst>
          </p:cNvPr>
          <p:cNvSpPr txBox="1"/>
          <p:nvPr/>
        </p:nvSpPr>
        <p:spPr>
          <a:xfrm>
            <a:off x="548640" y="1325880"/>
            <a:ext cx="5120640" cy="276999"/>
          </a:xfrm>
          <a:prstGeom prst="rect">
            <a:avLst/>
          </a:prstGeom>
          <a:noFill/>
        </p:spPr>
        <p:txBody>
          <a:bodyPr vert="horz" wrap="square" lIns="0" tIns="0" rIns="0" bIns="0" rtlCol="0">
            <a:noAutofit/>
          </a:bodyPr>
          <a:lstStyle/>
          <a:p>
            <a:endParaRPr lang="en-IN" sz="1300" b="1">
              <a:solidFill>
                <a:srgbClr val="2E8B7A"/>
              </a:solidFill>
              <a:latin typeface="Calibri" panose="020F0502020204030204" pitchFamily="34" charset="0"/>
            </a:endParaRPr>
          </a:p>
        </p:txBody>
      </p:sp>
      <p:sp>
        <p:nvSpPr>
          <p:cNvPr id="6" name="Rectangle 5">
            <a:extLst>
              <a:ext uri="{FF2B5EF4-FFF2-40B4-BE49-F238E27FC236}">
                <a16:creationId xmlns:a16="http://schemas.microsoft.com/office/drawing/2014/main" id="{7F0060F1-B7C0-E08E-F365-374D3D9EEC9E}"/>
              </a:ext>
            </a:extLst>
          </p:cNvPr>
          <p:cNvSpPr/>
          <p:nvPr/>
        </p:nvSpPr>
        <p:spPr>
          <a:xfrm>
            <a:off x="548640" y="1645920"/>
            <a:ext cx="5120640" cy="2743200"/>
          </a:xfrm>
          <a:prstGeom prst="rect">
            <a:avLst/>
          </a:prstGeom>
          <a:solidFill>
            <a:srgbClr val="F4F6F8"/>
          </a:solidFill>
          <a:ln w="9525">
            <a:solidFill>
              <a:srgbClr val="D5DBE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t"/>
          <a:lstStyle/>
          <a:p>
            <a:r>
              <a:rPr lang="en-IN" sz="1100" dirty="0">
                <a:solidFill>
                  <a:srgbClr val="1C2430"/>
                </a:solidFill>
                <a:latin typeface="Consolas" panose="020B0609020204030204" pitchFamily="49" charset="0"/>
              </a:rPr>
              <a:t>spark/</a:t>
            </a:r>
            <a:r>
              <a:rPr lang="en-IN" sz="1100" dirty="0" err="1">
                <a:solidFill>
                  <a:srgbClr val="1C2430"/>
                </a:solidFill>
                <a:latin typeface="Consolas" panose="020B0609020204030204" pitchFamily="49" charset="0"/>
              </a:rPr>
              <a:t>src</a:t>
            </a:r>
            <a:r>
              <a:rPr lang="en-IN" sz="1100" dirty="0">
                <a:solidFill>
                  <a:srgbClr val="1C2430"/>
                </a:solidFill>
                <a:latin typeface="Consolas" panose="020B0609020204030204" pitchFamily="49" charset="0"/>
              </a:rPr>
              <a:t>/main/scala/</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ddos</a:t>
            </a:r>
            <a:r>
              <a:rPr lang="en-IN" sz="1100" dirty="0">
                <a:solidFill>
                  <a:srgbClr val="1C2430"/>
                </a:solidFill>
                <a:latin typeface="Consolas" panose="020B0609020204030204" pitchFamily="49" charset="0"/>
              </a:rPr>
              <a:t>/common/  Session, Schema, Rules,</a:t>
            </a:r>
          </a:p>
          <a:p>
            <a:r>
              <a:rPr lang="en-IN" sz="1100" dirty="0">
                <a:solidFill>
                  <a:srgbClr val="1C2430"/>
                </a:solidFill>
                <a:latin typeface="Consolas" panose="020B0609020204030204" pitchFamily="49" charset="0"/>
              </a:rPr>
              <a:t>                Metrics, Postgres</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ddos</a:t>
            </a:r>
            <a:r>
              <a:rPr lang="en-IN" sz="1100" dirty="0">
                <a:solidFill>
                  <a:srgbClr val="1C2430"/>
                </a:solidFill>
                <a:latin typeface="Consolas" panose="020B0609020204030204" pitchFamily="49" charset="0"/>
              </a:rPr>
              <a:t>/ingest/  </a:t>
            </a:r>
            <a:r>
              <a:rPr lang="en-IN" sz="1100" dirty="0" err="1">
                <a:solidFill>
                  <a:srgbClr val="1C2430"/>
                </a:solidFill>
                <a:latin typeface="Consolas" panose="020B0609020204030204" pitchFamily="49" charset="0"/>
              </a:rPr>
              <a:t>BuildBronze</a:t>
            </a:r>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BuildSilver</a:t>
            </a:r>
            <a:r>
              <a:rPr lang="en-IN" sz="1100" dirty="0">
                <a:solidFill>
                  <a:srgbClr val="1C2430"/>
                </a:solidFill>
                <a:latin typeface="Consolas" panose="020B0609020204030204" pitchFamily="49" charset="0"/>
              </a:rPr>
              <a:t>,</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BuildFeatures</a:t>
            </a:r>
            <a:endParaRPr lang="en-IN" sz="1100" dirty="0">
              <a:solidFill>
                <a:srgbClr val="1C2430"/>
              </a:solidFill>
              <a:latin typeface="Consolas" panose="020B0609020204030204" pitchFamily="49" charset="0"/>
            </a:endParaRP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ddos</a:t>
            </a:r>
            <a:r>
              <a:rPr lang="en-IN" sz="1100" dirty="0">
                <a:solidFill>
                  <a:srgbClr val="1C2430"/>
                </a:solidFill>
                <a:latin typeface="Consolas" panose="020B0609020204030204" pitchFamily="49" charset="0"/>
              </a:rPr>
              <a:t>/train/   </a:t>
            </a:r>
            <a:r>
              <a:rPr lang="en-IN" sz="1100" dirty="0" err="1">
                <a:solidFill>
                  <a:srgbClr val="1C2430"/>
                </a:solidFill>
                <a:latin typeface="Consolas" panose="020B0609020204030204" pitchFamily="49" charset="0"/>
              </a:rPr>
              <a:t>TrainModels</a:t>
            </a:r>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TrainModelsWhole</a:t>
            </a:r>
            <a:r>
              <a:rPr lang="en-IN" sz="1100" dirty="0">
                <a:solidFill>
                  <a:srgbClr val="1C2430"/>
                </a:solidFill>
                <a:latin typeface="Consolas" panose="020B0609020204030204" pitchFamily="49" charset="0"/>
              </a:rPr>
              <a:t>,</a:t>
            </a:r>
          </a:p>
          <a:p>
            <a:r>
              <a:rPr lang="en-IN" sz="1100" dirty="0">
                <a:solidFill>
                  <a:srgbClr val="1C2430"/>
                </a:solidFill>
                <a:latin typeface="Consolas" panose="020B0609020204030204" pitchFamily="49" charset="0"/>
              </a:rPr>
              <a:t>                Evaluation</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ddos</a:t>
            </a:r>
            <a:r>
              <a:rPr lang="en-IN" sz="1100" dirty="0">
                <a:solidFill>
                  <a:srgbClr val="1C2430"/>
                </a:solidFill>
                <a:latin typeface="Consolas" panose="020B0609020204030204" pitchFamily="49" charset="0"/>
              </a:rPr>
              <a:t>/learn/   Gate, Memory</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ddos</a:t>
            </a:r>
            <a:r>
              <a:rPr lang="en-IN" sz="1100" dirty="0">
                <a:solidFill>
                  <a:srgbClr val="1C2430"/>
                </a:solidFill>
                <a:latin typeface="Consolas" panose="020B0609020204030204" pitchFamily="49" charset="0"/>
              </a:rPr>
              <a:t>/stream/  </a:t>
            </a:r>
            <a:r>
              <a:rPr lang="en-IN" sz="1100" dirty="0" err="1">
                <a:solidFill>
                  <a:srgbClr val="1C2430"/>
                </a:solidFill>
                <a:latin typeface="Consolas" panose="020B0609020204030204" pitchFamily="49" charset="0"/>
              </a:rPr>
              <a:t>ReplayProducer</a:t>
            </a:r>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LiveScorer</a:t>
            </a:r>
            <a:r>
              <a:rPr lang="en-IN" sz="1100" dirty="0">
                <a:solidFill>
                  <a:srgbClr val="1C2430"/>
                </a:solidFill>
                <a:latin typeface="Consolas" panose="020B0609020204030204" pitchFamily="49" charset="0"/>
              </a:rPr>
              <a:t>,</a:t>
            </a:r>
          </a:p>
          <a:p>
            <a:r>
              <a:rPr lang="en-IN" sz="1100" dirty="0">
                <a:solidFill>
                  <a:srgbClr val="1C2430"/>
                </a:solidFill>
                <a:latin typeface="Consolas" panose="020B0609020204030204" pitchFamily="49" charset="0"/>
              </a:rPr>
              <a:t>                </a:t>
            </a:r>
            <a:r>
              <a:rPr lang="en-IN" sz="1100" dirty="0" err="1">
                <a:solidFill>
                  <a:srgbClr val="1C2430"/>
                </a:solidFill>
                <a:latin typeface="Consolas" panose="020B0609020204030204" pitchFamily="49" charset="0"/>
              </a:rPr>
              <a:t>LoadReports</a:t>
            </a:r>
            <a:endParaRPr lang="en-IN" sz="1100" dirty="0">
              <a:solidFill>
                <a:srgbClr val="1C2430"/>
              </a:solidFill>
              <a:latin typeface="Consolas" panose="020B0609020204030204" pitchFamily="49" charset="0"/>
            </a:endParaRPr>
          </a:p>
          <a:p>
            <a:r>
              <a:rPr lang="en-IN" sz="1100" dirty="0">
                <a:solidFill>
                  <a:srgbClr val="1C2430"/>
                </a:solidFill>
                <a:latin typeface="Consolas" panose="020B0609020204030204" pitchFamily="49" charset="0"/>
              </a:rPr>
              <a:t>  org/</a:t>
            </a:r>
            <a:r>
              <a:rPr lang="en-IN" sz="1100" dirty="0" err="1">
                <a:solidFill>
                  <a:srgbClr val="1C2430"/>
                </a:solidFill>
                <a:latin typeface="Consolas" panose="020B0609020204030204" pitchFamily="49" charset="0"/>
              </a:rPr>
              <a:t>apache</a:t>
            </a:r>
            <a:r>
              <a:rPr lang="en-IN" sz="1100" dirty="0">
                <a:solidFill>
                  <a:srgbClr val="1C2430"/>
                </a:solidFill>
                <a:latin typeface="Consolas" panose="020B0609020204030204" pitchFamily="49" charset="0"/>
              </a:rPr>
              <a:t>/spark/ml/tree/  </a:t>
            </a:r>
            <a:r>
              <a:rPr lang="en-IN" sz="1100" dirty="0" err="1">
                <a:solidFill>
                  <a:srgbClr val="1C2430"/>
                </a:solidFill>
                <a:latin typeface="Consolas" panose="020B0609020204030204" pitchFamily="49" charset="0"/>
              </a:rPr>
              <a:t>DecisionPath</a:t>
            </a:r>
            <a:endParaRPr lang="en-IN" sz="1100" dirty="0">
              <a:solidFill>
                <a:srgbClr val="1C2430"/>
              </a:solidFill>
              <a:latin typeface="Consolas" panose="020B0609020204030204" pitchFamily="49" charset="0"/>
            </a:endParaRPr>
          </a:p>
        </p:txBody>
      </p:sp>
      <p:sp>
        <p:nvSpPr>
          <p:cNvPr id="7" name="TextBox 6">
            <a:extLst>
              <a:ext uri="{FF2B5EF4-FFF2-40B4-BE49-F238E27FC236}">
                <a16:creationId xmlns:a16="http://schemas.microsoft.com/office/drawing/2014/main" id="{14ED4D34-A936-E920-DCE5-45FB1FFC44C2}"/>
              </a:ext>
            </a:extLst>
          </p:cNvPr>
          <p:cNvSpPr txBox="1"/>
          <p:nvPr/>
        </p:nvSpPr>
        <p:spPr>
          <a:xfrm>
            <a:off x="548640" y="4572000"/>
            <a:ext cx="512064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a:solidFill>
                  <a:srgbClr val="1C2430"/>
                </a:solidFill>
                <a:latin typeface="Calibri" panose="020F0502020204030204" pitchFamily="34" charset="0"/>
              </a:rPr>
              <a:t>Scala 2.12, Spark 3.5.5, built with sbt-assembly into one jar</a:t>
            </a:r>
          </a:p>
          <a:p>
            <a:pPr marL="177800" indent="-177800">
              <a:spcAft>
                <a:spcPts val="400"/>
              </a:spcAft>
              <a:buFont typeface="+mj-lt"/>
              <a:buChar char="•"/>
            </a:pPr>
            <a:r>
              <a:rPr lang="en-US" sz="1300">
                <a:solidFill>
                  <a:srgbClr val="1C2430"/>
                </a:solidFill>
                <a:latin typeface="Calibri" panose="020F0502020204030204" pitchFamily="34" charset="0"/>
              </a:rPr>
              <a:t>Each job runs with spark-submit --class &lt;name&gt;</a:t>
            </a:r>
          </a:p>
          <a:p>
            <a:pPr marL="177800" indent="-177800">
              <a:spcAft>
                <a:spcPts val="400"/>
              </a:spcAft>
              <a:buFont typeface="+mj-lt"/>
              <a:buChar char="•"/>
            </a:pPr>
            <a:r>
              <a:rPr lang="en-US" sz="1300">
                <a:solidFill>
                  <a:srgbClr val="1C2430"/>
                </a:solidFill>
                <a:latin typeface="Calibri" panose="020F0502020204030204" pitchFamily="34" charset="0"/>
              </a:rPr>
              <a:t>One shared Schema maps CSV headers and JSON paths to the same 86 columns</a:t>
            </a:r>
            <a:endParaRPr lang="en-IN" sz="1300">
              <a:solidFill>
                <a:srgbClr val="1C2430"/>
              </a:solidFill>
              <a:latin typeface="Calibri" panose="020F0502020204030204" pitchFamily="34" charset="0"/>
            </a:endParaRPr>
          </a:p>
        </p:txBody>
      </p:sp>
      <p:sp>
        <p:nvSpPr>
          <p:cNvPr id="8" name="TextBox 7">
            <a:extLst>
              <a:ext uri="{FF2B5EF4-FFF2-40B4-BE49-F238E27FC236}">
                <a16:creationId xmlns:a16="http://schemas.microsoft.com/office/drawing/2014/main" id="{7161AB9B-9EA8-4B1B-9C4A-E70409E2271C}"/>
              </a:ext>
            </a:extLst>
          </p:cNvPr>
          <p:cNvSpPr txBox="1"/>
          <p:nvPr/>
        </p:nvSpPr>
        <p:spPr>
          <a:xfrm>
            <a:off x="6080760" y="1325880"/>
            <a:ext cx="5559552" cy="276999"/>
          </a:xfrm>
          <a:prstGeom prst="rect">
            <a:avLst/>
          </a:prstGeom>
          <a:noFill/>
        </p:spPr>
        <p:txBody>
          <a:bodyPr vert="horz" wrap="square" lIns="0" tIns="0" rIns="0" bIns="0" rtlCol="0">
            <a:noAutofit/>
          </a:bodyPr>
          <a:lstStyle/>
          <a:p>
            <a:r>
              <a:rPr lang="en-US" sz="1300" b="1">
                <a:solidFill>
                  <a:srgbClr val="2E8B7A"/>
                </a:solidFill>
                <a:latin typeface="Calibri" panose="020F0502020204030204" pitchFamily="34" charset="0"/>
              </a:rPr>
              <a:t>Gate: is this connection familiar?</a:t>
            </a:r>
            <a:endParaRPr lang="en-IN" sz="1300" b="1">
              <a:solidFill>
                <a:srgbClr val="2E8B7A"/>
              </a:solidFill>
              <a:latin typeface="Calibri" panose="020F0502020204030204" pitchFamily="34" charset="0"/>
            </a:endParaRPr>
          </a:p>
        </p:txBody>
      </p:sp>
      <p:sp>
        <p:nvSpPr>
          <p:cNvPr id="9" name="Rectangle 8">
            <a:extLst>
              <a:ext uri="{FF2B5EF4-FFF2-40B4-BE49-F238E27FC236}">
                <a16:creationId xmlns:a16="http://schemas.microsoft.com/office/drawing/2014/main" id="{8BC3C845-C054-9F27-C826-DDD35FAA91E8}"/>
              </a:ext>
            </a:extLst>
          </p:cNvPr>
          <p:cNvSpPr/>
          <p:nvPr/>
        </p:nvSpPr>
        <p:spPr>
          <a:xfrm>
            <a:off x="6080760" y="1645920"/>
            <a:ext cx="5559552" cy="1051560"/>
          </a:xfrm>
          <a:prstGeom prst="rect">
            <a:avLst/>
          </a:prstGeom>
          <a:solidFill>
            <a:srgbClr val="F4F6F8"/>
          </a:solidFill>
          <a:ln w="9525">
            <a:solidFill>
              <a:srgbClr val="D5DBE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t"/>
          <a:lstStyle/>
          <a:p>
            <a:r>
              <a:rPr lang="en-IN" sz="1100" dirty="0" err="1">
                <a:solidFill>
                  <a:srgbClr val="1C2430"/>
                </a:solidFill>
                <a:latin typeface="Consolas" panose="020B0609020204030204" pitchFamily="49" charset="0"/>
              </a:rPr>
              <a:t>val</a:t>
            </a:r>
            <a:r>
              <a:rPr lang="en-IN" sz="1100" dirty="0">
                <a:solidFill>
                  <a:srgbClr val="1C2430"/>
                </a:solidFill>
                <a:latin typeface="Consolas" panose="020B0609020204030204" pitchFamily="49" charset="0"/>
              </a:rPr>
              <a:t> limit = ...</a:t>
            </a:r>
            <a:r>
              <a:rPr lang="en-IN" sz="1100" dirty="0" err="1">
                <a:solidFill>
                  <a:srgbClr val="1C2430"/>
                </a:solidFill>
                <a:latin typeface="Consolas" panose="020B0609020204030204" pitchFamily="49" charset="0"/>
              </a:rPr>
              <a:t>approxQuantile</a:t>
            </a:r>
            <a:r>
              <a:rPr lang="en-IN" sz="1100" dirty="0">
                <a:solidFill>
                  <a:srgbClr val="1C2430"/>
                </a:solidFill>
                <a:latin typeface="Consolas" panose="020B0609020204030204" pitchFamily="49" charset="0"/>
              </a:rPr>
              <a:t>("distance", Array(0.99), 0.0005)</a:t>
            </a:r>
          </a:p>
          <a:p>
            <a:r>
              <a:rPr lang="en-IN" sz="1100" dirty="0">
                <a:solidFill>
                  <a:srgbClr val="1C2430"/>
                </a:solidFill>
                <a:latin typeface="Consolas" panose="020B0609020204030204" pitchFamily="49" charset="0"/>
              </a:rPr>
              <a:t>.</a:t>
            </a:r>
            <a:r>
              <a:rPr lang="en-IN" sz="1100" dirty="0" err="1">
                <a:solidFill>
                  <a:srgbClr val="1C2430"/>
                </a:solidFill>
                <a:latin typeface="Consolas" panose="020B0609020204030204" pitchFamily="49" charset="0"/>
              </a:rPr>
              <a:t>withColumn</a:t>
            </a:r>
            <a:r>
              <a:rPr lang="en-IN" sz="1100" dirty="0">
                <a:solidFill>
                  <a:srgbClr val="1C2430"/>
                </a:solidFill>
                <a:latin typeface="Consolas" panose="020B0609020204030204" pitchFamily="49" charset="0"/>
              </a:rPr>
              <a:t>("unfamiliar", col("distance") &gt; limit)  // 5.60</a:t>
            </a:r>
          </a:p>
        </p:txBody>
      </p:sp>
      <p:sp>
        <p:nvSpPr>
          <p:cNvPr id="10" name="TextBox 9">
            <a:extLst>
              <a:ext uri="{FF2B5EF4-FFF2-40B4-BE49-F238E27FC236}">
                <a16:creationId xmlns:a16="http://schemas.microsoft.com/office/drawing/2014/main" id="{83D2A4E2-B38C-CCDB-81A0-D21E40C6BC5F}"/>
              </a:ext>
            </a:extLst>
          </p:cNvPr>
          <p:cNvSpPr txBox="1"/>
          <p:nvPr/>
        </p:nvSpPr>
        <p:spPr>
          <a:xfrm>
            <a:off x="6080760" y="2880360"/>
            <a:ext cx="5559552" cy="276999"/>
          </a:xfrm>
          <a:prstGeom prst="rect">
            <a:avLst/>
          </a:prstGeom>
          <a:noFill/>
        </p:spPr>
        <p:txBody>
          <a:bodyPr vert="horz" wrap="square" lIns="0" tIns="0" rIns="0" bIns="0" rtlCol="0">
            <a:noAutofit/>
          </a:bodyPr>
          <a:lstStyle/>
          <a:p>
            <a:r>
              <a:rPr lang="en-US" sz="1300" b="1">
                <a:solidFill>
                  <a:srgbClr val="2E8B7A"/>
                </a:solidFill>
                <a:latin typeface="Calibri" panose="020F0502020204030204" pitchFamily="34" charset="0"/>
              </a:rPr>
              <a:t>Router + label copying for unfamiliar traffic</a:t>
            </a:r>
            <a:endParaRPr lang="en-IN" sz="1300" b="1">
              <a:solidFill>
                <a:srgbClr val="2E8B7A"/>
              </a:solidFill>
              <a:latin typeface="Calibri" panose="020F0502020204030204" pitchFamily="34" charset="0"/>
            </a:endParaRPr>
          </a:p>
        </p:txBody>
      </p:sp>
      <p:sp>
        <p:nvSpPr>
          <p:cNvPr id="11" name="Rectangle 10">
            <a:extLst>
              <a:ext uri="{FF2B5EF4-FFF2-40B4-BE49-F238E27FC236}">
                <a16:creationId xmlns:a16="http://schemas.microsoft.com/office/drawing/2014/main" id="{A0E64FA9-CCE8-D50E-D2F8-33167C253D34}"/>
              </a:ext>
            </a:extLst>
          </p:cNvPr>
          <p:cNvSpPr/>
          <p:nvPr/>
        </p:nvSpPr>
        <p:spPr>
          <a:xfrm>
            <a:off x="6080760" y="3200400"/>
            <a:ext cx="5559552" cy="1051560"/>
          </a:xfrm>
          <a:prstGeom prst="rect">
            <a:avLst/>
          </a:prstGeom>
          <a:solidFill>
            <a:srgbClr val="F4F6F8"/>
          </a:solidFill>
          <a:ln w="9525">
            <a:solidFill>
              <a:srgbClr val="D5DBE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t"/>
          <a:lstStyle/>
          <a:p>
            <a:r>
              <a:rPr lang="en-US" sz="1100">
                <a:solidFill>
                  <a:srgbClr val="1C2430"/>
                </a:solidFill>
                <a:latin typeface="Consolas" panose="020B0609020204030204" pitchFamily="49" charset="0"/>
              </a:rPr>
              <a:t>val close = col("nn_distance") &lt;= gate.limit</a:t>
            </a:r>
          </a:p>
          <a:p>
            <a:r>
              <a:rPr lang="en-US" sz="1100">
                <a:solidFill>
                  <a:srgbClr val="1C2430"/>
                </a:solidFill>
                <a:latin typeface="Consolas" panose="020B0609020204030204" pitchFamily="49" charset="0"/>
              </a:rPr>
              <a:t>when(close, col("nn_label")).otherwise(col("random_forest"))</a:t>
            </a:r>
            <a:endParaRPr lang="en-IN" sz="1100">
              <a:solidFill>
                <a:srgbClr val="1C2430"/>
              </a:solidFill>
              <a:latin typeface="Consolas" panose="020B0609020204030204" pitchFamily="49" charset="0"/>
            </a:endParaRPr>
          </a:p>
        </p:txBody>
      </p:sp>
      <p:sp>
        <p:nvSpPr>
          <p:cNvPr id="12" name="TextBox 11">
            <a:extLst>
              <a:ext uri="{FF2B5EF4-FFF2-40B4-BE49-F238E27FC236}">
                <a16:creationId xmlns:a16="http://schemas.microsoft.com/office/drawing/2014/main" id="{631B8FB3-7857-EEA5-AA84-2A950C7D75E5}"/>
              </a:ext>
            </a:extLst>
          </p:cNvPr>
          <p:cNvSpPr txBox="1"/>
          <p:nvPr/>
        </p:nvSpPr>
        <p:spPr>
          <a:xfrm>
            <a:off x="6080760" y="4434840"/>
            <a:ext cx="5559552" cy="276999"/>
          </a:xfrm>
          <a:prstGeom prst="rect">
            <a:avLst/>
          </a:prstGeom>
          <a:noFill/>
        </p:spPr>
        <p:txBody>
          <a:bodyPr vert="horz" wrap="square" lIns="0" tIns="0" rIns="0" bIns="0" rtlCol="0">
            <a:noAutofit/>
          </a:bodyPr>
          <a:lstStyle/>
          <a:p>
            <a:r>
              <a:rPr lang="en-IN" sz="1300" b="1">
                <a:solidFill>
                  <a:srgbClr val="2E8B7A"/>
                </a:solidFill>
                <a:latin typeface="Calibri" panose="020F0502020204030204" pitchFamily="34" charset="0"/>
              </a:rPr>
              <a:t>Live stream from Kafka</a:t>
            </a:r>
          </a:p>
        </p:txBody>
      </p:sp>
      <p:sp>
        <p:nvSpPr>
          <p:cNvPr id="13" name="Rectangle 12">
            <a:extLst>
              <a:ext uri="{FF2B5EF4-FFF2-40B4-BE49-F238E27FC236}">
                <a16:creationId xmlns:a16="http://schemas.microsoft.com/office/drawing/2014/main" id="{61321BFD-6E6A-891C-7396-9619566853A3}"/>
              </a:ext>
            </a:extLst>
          </p:cNvPr>
          <p:cNvSpPr/>
          <p:nvPr/>
        </p:nvSpPr>
        <p:spPr>
          <a:xfrm>
            <a:off x="6083503" y="4754880"/>
            <a:ext cx="5559552" cy="1371600"/>
          </a:xfrm>
          <a:prstGeom prst="rect">
            <a:avLst/>
          </a:prstGeom>
          <a:solidFill>
            <a:srgbClr val="F4F6F8"/>
          </a:solidFill>
          <a:ln w="9525">
            <a:solidFill>
              <a:srgbClr val="D5DBE2"/>
            </a:solidFill>
          </a:ln>
        </p:spPr>
        <p:style>
          <a:lnRef idx="2">
            <a:schemeClr val="accent1">
              <a:shade val="15000"/>
            </a:schemeClr>
          </a:lnRef>
          <a:fillRef idx="1">
            <a:schemeClr val="accent1"/>
          </a:fillRef>
          <a:effectRef idx="0">
            <a:schemeClr val="accent1"/>
          </a:effectRef>
          <a:fontRef idx="minor">
            <a:schemeClr val="lt1"/>
          </a:fontRef>
        </p:style>
        <p:txBody>
          <a:bodyPr wrap="square" lIns="101600" tIns="76200" rIns="101600" bIns="76200" rtlCol="0" anchor="t"/>
          <a:lstStyle/>
          <a:p>
            <a:r>
              <a:rPr lang="en-IN" sz="1100" dirty="0" err="1">
                <a:solidFill>
                  <a:srgbClr val="1C2430"/>
                </a:solidFill>
                <a:latin typeface="Consolas" panose="020B0609020204030204" pitchFamily="49" charset="0"/>
              </a:rPr>
              <a:t>spark.readStream.format</a:t>
            </a:r>
            <a:r>
              <a:rPr lang="en-IN" sz="1100" dirty="0">
                <a:solidFill>
                  <a:srgbClr val="1C2430"/>
                </a:solidFill>
                <a:latin typeface="Consolas" panose="020B0609020204030204" pitchFamily="49" charset="0"/>
              </a:rPr>
              <a:t>("</a:t>
            </a:r>
            <a:r>
              <a:rPr lang="en-IN" sz="1100" dirty="0" err="1">
                <a:solidFill>
                  <a:srgbClr val="1C2430"/>
                </a:solidFill>
                <a:latin typeface="Consolas" panose="020B0609020204030204" pitchFamily="49" charset="0"/>
              </a:rPr>
              <a:t>kafka</a:t>
            </a:r>
            <a:r>
              <a:rPr lang="en-IN" sz="1100" dirty="0">
                <a:solidFill>
                  <a:srgbClr val="1C2430"/>
                </a:solidFill>
                <a:latin typeface="Consolas" panose="020B0609020204030204" pitchFamily="49" charset="0"/>
              </a:rPr>
              <a:t>").option("subscribe", "flows")</a:t>
            </a:r>
          </a:p>
          <a:p>
            <a:r>
              <a:rPr lang="en-IN" sz="1100" dirty="0">
                <a:solidFill>
                  <a:srgbClr val="1C2430"/>
                </a:solidFill>
                <a:latin typeface="Consolas" panose="020B0609020204030204" pitchFamily="49" charset="0"/>
              </a:rPr>
              <a:t>  .option("</a:t>
            </a:r>
            <a:r>
              <a:rPr lang="en-IN" sz="1100" dirty="0" err="1">
                <a:solidFill>
                  <a:srgbClr val="1C2430"/>
                </a:solidFill>
                <a:latin typeface="Consolas" panose="020B0609020204030204" pitchFamily="49" charset="0"/>
              </a:rPr>
              <a:t>maxOffsetsPerTrigger</a:t>
            </a:r>
            <a:r>
              <a:rPr lang="en-IN" sz="1100" dirty="0">
                <a:solidFill>
                  <a:srgbClr val="1C2430"/>
                </a:solidFill>
                <a:latin typeface="Consolas" panose="020B0609020204030204" pitchFamily="49" charset="0"/>
              </a:rPr>
              <a:t>", "12000")</a:t>
            </a:r>
          </a:p>
          <a:p>
            <a:r>
              <a:rPr lang="en-IN" sz="1100" dirty="0">
                <a:solidFill>
                  <a:srgbClr val="1C2430"/>
                </a:solidFill>
                <a:latin typeface="Consolas" panose="020B0609020204030204" pitchFamily="49" charset="0"/>
              </a:rPr>
              <a:t>  .option("</a:t>
            </a:r>
            <a:r>
              <a:rPr lang="en-IN" sz="1100" dirty="0" err="1">
                <a:solidFill>
                  <a:srgbClr val="1C2430"/>
                </a:solidFill>
                <a:latin typeface="Consolas" panose="020B0609020204030204" pitchFamily="49" charset="0"/>
              </a:rPr>
              <a:t>minPartitions</a:t>
            </a:r>
            <a:r>
              <a:rPr lang="en-IN" sz="1100" dirty="0">
                <a:solidFill>
                  <a:srgbClr val="1C2430"/>
                </a:solidFill>
                <a:latin typeface="Consolas" panose="020B0609020204030204" pitchFamily="49" charset="0"/>
              </a:rPr>
              <a:t>", "6")</a:t>
            </a:r>
          </a:p>
          <a:p>
            <a:r>
              <a:rPr lang="en-IN" sz="1100" dirty="0" err="1">
                <a:solidFill>
                  <a:srgbClr val="1C2430"/>
                </a:solidFill>
                <a:latin typeface="Consolas" panose="020B0609020204030204" pitchFamily="49" charset="0"/>
              </a:rPr>
              <a:t>val</a:t>
            </a:r>
            <a:r>
              <a:rPr lang="en-IN" sz="1100" dirty="0">
                <a:solidFill>
                  <a:srgbClr val="1C2430"/>
                </a:solidFill>
                <a:latin typeface="Consolas" panose="020B0609020204030204" pitchFamily="49" charset="0"/>
              </a:rPr>
              <a:t> batch = </a:t>
            </a:r>
            <a:r>
              <a:rPr lang="en-IN" sz="1100" dirty="0" err="1">
                <a:solidFill>
                  <a:srgbClr val="1C2430"/>
                </a:solidFill>
                <a:latin typeface="Consolas" panose="020B0609020204030204" pitchFamily="49" charset="0"/>
              </a:rPr>
              <a:t>arrived.localCheckpoint</a:t>
            </a:r>
            <a:r>
              <a:rPr lang="en-IN" sz="1100" dirty="0">
                <a:solidFill>
                  <a:srgbClr val="1C2430"/>
                </a:solidFill>
                <a:latin typeface="Consolas" panose="020B0609020204030204" pitchFamily="49" charset="0"/>
              </a:rPr>
              <a:t>()  // per tick</a:t>
            </a:r>
          </a:p>
        </p:txBody>
      </p:sp>
    </p:spTree>
    <p:extLst>
      <p:ext uri="{BB962C8B-B14F-4D97-AF65-F5344CB8AC3E}">
        <p14:creationId xmlns:p14="http://schemas.microsoft.com/office/powerpoint/2010/main" val="35335287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Spark ML pipeline: features, algorithms and tuning</a:t>
            </a:r>
            <a:endParaRPr lang="en-US" sz="30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
        <p:nvSpPr>
          <p:cNvPr id="4" name="Rectangle: Rounded Corners 3">
            <a:extLst>
              <a:ext uri="{FF2B5EF4-FFF2-40B4-BE49-F238E27FC236}">
                <a16:creationId xmlns:a16="http://schemas.microsoft.com/office/drawing/2014/main" id="{5194E82D-F193-A78A-2810-B9D2AD3FE61F}"/>
              </a:ext>
            </a:extLst>
          </p:cNvPr>
          <p:cNvSpPr/>
          <p:nvPr/>
        </p:nvSpPr>
        <p:spPr>
          <a:xfrm>
            <a:off x="548640" y="1325880"/>
            <a:ext cx="2011680" cy="105156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6AF3E946-D92B-7685-F50D-CADDE6AC9A9B}"/>
              </a:ext>
            </a:extLst>
          </p:cNvPr>
          <p:cNvSpPr txBox="1"/>
          <p:nvPr/>
        </p:nvSpPr>
        <p:spPr>
          <a:xfrm>
            <a:off x="685800" y="1444752"/>
            <a:ext cx="17373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55 features</a:t>
            </a:r>
          </a:p>
        </p:txBody>
      </p:sp>
      <p:sp>
        <p:nvSpPr>
          <p:cNvPr id="6" name="TextBox 5">
            <a:extLst>
              <a:ext uri="{FF2B5EF4-FFF2-40B4-BE49-F238E27FC236}">
                <a16:creationId xmlns:a16="http://schemas.microsoft.com/office/drawing/2014/main" id="{2E9F465C-F974-CA02-A93D-050646447399}"/>
              </a:ext>
            </a:extLst>
          </p:cNvPr>
          <p:cNvSpPr txBox="1"/>
          <p:nvPr/>
        </p:nvSpPr>
        <p:spPr>
          <a:xfrm>
            <a:off x="685800" y="1828800"/>
            <a:ext cx="1737360" cy="276999"/>
          </a:xfrm>
          <a:prstGeom prst="rect">
            <a:avLst/>
          </a:prstGeom>
          <a:noFill/>
        </p:spPr>
        <p:txBody>
          <a:bodyPr vert="horz" wrap="square" lIns="0" tIns="0" rIns="0" bIns="0" rtlCol="0">
            <a:noAutofit/>
          </a:bodyPr>
          <a:lstStyle/>
          <a:p>
            <a:r>
              <a:rPr lang="en-IN" sz="1100">
                <a:solidFill>
                  <a:srgbClr val="1C2430"/>
                </a:solidFill>
                <a:latin typeface="Calibri" panose="020F0502020204030204" pitchFamily="34" charset="0"/>
              </a:rPr>
              <a:t>identifiers removed</a:t>
            </a:r>
          </a:p>
        </p:txBody>
      </p:sp>
      <p:sp>
        <p:nvSpPr>
          <p:cNvPr id="7" name="Arrow: Right 6">
            <a:extLst>
              <a:ext uri="{FF2B5EF4-FFF2-40B4-BE49-F238E27FC236}">
                <a16:creationId xmlns:a16="http://schemas.microsoft.com/office/drawing/2014/main" id="{BF1623B9-F02D-33BA-539E-729AD32D1961}"/>
              </a:ext>
            </a:extLst>
          </p:cNvPr>
          <p:cNvSpPr/>
          <p:nvPr/>
        </p:nvSpPr>
        <p:spPr>
          <a:xfrm>
            <a:off x="2587752" y="1755648"/>
            <a:ext cx="182880" cy="201168"/>
          </a:xfrm>
          <a:prstGeom prst="rightArrow">
            <a:avLst/>
          </a:prstGeom>
          <a:solidFill>
            <a:srgbClr val="5560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Rounded Corners 7">
            <a:extLst>
              <a:ext uri="{FF2B5EF4-FFF2-40B4-BE49-F238E27FC236}">
                <a16:creationId xmlns:a16="http://schemas.microsoft.com/office/drawing/2014/main" id="{9D0FAE26-ACF3-7061-BBEB-DC89F9D71644}"/>
              </a:ext>
            </a:extLst>
          </p:cNvPr>
          <p:cNvSpPr/>
          <p:nvPr/>
        </p:nvSpPr>
        <p:spPr>
          <a:xfrm>
            <a:off x="2807208" y="1325880"/>
            <a:ext cx="2011680" cy="105156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7B0294E-5893-A957-1651-C9B875D21CE0}"/>
              </a:ext>
            </a:extLst>
          </p:cNvPr>
          <p:cNvSpPr txBox="1"/>
          <p:nvPr/>
        </p:nvSpPr>
        <p:spPr>
          <a:xfrm>
            <a:off x="2944368" y="1444752"/>
            <a:ext cx="17373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Encoder</a:t>
            </a:r>
          </a:p>
        </p:txBody>
      </p:sp>
      <p:sp>
        <p:nvSpPr>
          <p:cNvPr id="10" name="TextBox 9">
            <a:extLst>
              <a:ext uri="{FF2B5EF4-FFF2-40B4-BE49-F238E27FC236}">
                <a16:creationId xmlns:a16="http://schemas.microsoft.com/office/drawing/2014/main" id="{A3DBC04C-612E-D575-6B11-26A6A4D11C0C}"/>
              </a:ext>
            </a:extLst>
          </p:cNvPr>
          <p:cNvSpPr txBox="1"/>
          <p:nvPr/>
        </p:nvSpPr>
        <p:spPr>
          <a:xfrm>
            <a:off x="2944368" y="1828800"/>
            <a:ext cx="1737360" cy="276999"/>
          </a:xfrm>
          <a:prstGeom prst="rect">
            <a:avLst/>
          </a:prstGeom>
          <a:noFill/>
        </p:spPr>
        <p:txBody>
          <a:bodyPr vert="horz" wrap="square" lIns="0" tIns="0" rIns="0" bIns="0" rtlCol="0">
            <a:noAutofit/>
          </a:bodyPr>
          <a:lstStyle/>
          <a:p>
            <a:r>
              <a:rPr lang="en-IN" sz="1100">
                <a:solidFill>
                  <a:srgbClr val="1C2430"/>
                </a:solidFill>
                <a:latin typeface="Calibri" panose="020F0502020204030204" pitchFamily="34" charset="0"/>
              </a:rPr>
              <a:t>StringIndexer + VectorAssembler</a:t>
            </a:r>
          </a:p>
        </p:txBody>
      </p:sp>
      <p:sp>
        <p:nvSpPr>
          <p:cNvPr id="11" name="Arrow: Right 10">
            <a:extLst>
              <a:ext uri="{FF2B5EF4-FFF2-40B4-BE49-F238E27FC236}">
                <a16:creationId xmlns:a16="http://schemas.microsoft.com/office/drawing/2014/main" id="{C91B6660-9FAB-5DB3-2164-5880416384E6}"/>
              </a:ext>
            </a:extLst>
          </p:cNvPr>
          <p:cNvSpPr/>
          <p:nvPr/>
        </p:nvSpPr>
        <p:spPr>
          <a:xfrm>
            <a:off x="4846320" y="1755648"/>
            <a:ext cx="182880" cy="201168"/>
          </a:xfrm>
          <a:prstGeom prst="rightArrow">
            <a:avLst/>
          </a:prstGeom>
          <a:solidFill>
            <a:srgbClr val="5560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Rounded Corners 11">
            <a:extLst>
              <a:ext uri="{FF2B5EF4-FFF2-40B4-BE49-F238E27FC236}">
                <a16:creationId xmlns:a16="http://schemas.microsoft.com/office/drawing/2014/main" id="{A2600B88-536C-44F3-3C33-C704D67CEA12}"/>
              </a:ext>
            </a:extLst>
          </p:cNvPr>
          <p:cNvSpPr/>
          <p:nvPr/>
        </p:nvSpPr>
        <p:spPr>
          <a:xfrm>
            <a:off x="5065776" y="1325880"/>
            <a:ext cx="2011680" cy="105156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TextBox 12">
            <a:extLst>
              <a:ext uri="{FF2B5EF4-FFF2-40B4-BE49-F238E27FC236}">
                <a16:creationId xmlns:a16="http://schemas.microsoft.com/office/drawing/2014/main" id="{17868A35-CA79-53E8-7E0C-EEE95B9CB929}"/>
              </a:ext>
            </a:extLst>
          </p:cNvPr>
          <p:cNvSpPr txBox="1"/>
          <p:nvPr/>
        </p:nvSpPr>
        <p:spPr>
          <a:xfrm>
            <a:off x="5202936" y="1444752"/>
            <a:ext cx="17373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Class weights</a:t>
            </a:r>
          </a:p>
        </p:txBody>
      </p:sp>
      <p:sp>
        <p:nvSpPr>
          <p:cNvPr id="14" name="TextBox 13">
            <a:extLst>
              <a:ext uri="{FF2B5EF4-FFF2-40B4-BE49-F238E27FC236}">
                <a16:creationId xmlns:a16="http://schemas.microsoft.com/office/drawing/2014/main" id="{D0AA2E00-22DE-8070-87DE-61B3F70A76F4}"/>
              </a:ext>
            </a:extLst>
          </p:cNvPr>
          <p:cNvSpPr txBox="1"/>
          <p:nvPr/>
        </p:nvSpPr>
        <p:spPr>
          <a:xfrm>
            <a:off x="5202936" y="1828800"/>
            <a:ext cx="1737360" cy="276999"/>
          </a:xfrm>
          <a:prstGeom prst="rect">
            <a:avLst/>
          </a:prstGeom>
          <a:noFill/>
        </p:spPr>
        <p:txBody>
          <a:bodyPr vert="horz" wrap="square" lIns="0" tIns="0" rIns="0" bIns="0" rtlCol="0">
            <a:noAutofit/>
          </a:bodyPr>
          <a:lstStyle/>
          <a:p>
            <a:r>
              <a:rPr lang="en-US" sz="1100" dirty="0">
                <a:solidFill>
                  <a:srgbClr val="1C2430"/>
                </a:solidFill>
                <a:latin typeface="Calibri" panose="020F0502020204030204" pitchFamily="34" charset="0"/>
              </a:rPr>
              <a:t>N / (2 x class count)</a:t>
            </a:r>
            <a:endParaRPr lang="en-IN" sz="1100" dirty="0">
              <a:solidFill>
                <a:srgbClr val="1C2430"/>
              </a:solidFill>
              <a:latin typeface="Calibri" panose="020F0502020204030204" pitchFamily="34" charset="0"/>
            </a:endParaRPr>
          </a:p>
        </p:txBody>
      </p:sp>
      <p:sp>
        <p:nvSpPr>
          <p:cNvPr id="15" name="Arrow: Right 14">
            <a:extLst>
              <a:ext uri="{FF2B5EF4-FFF2-40B4-BE49-F238E27FC236}">
                <a16:creationId xmlns:a16="http://schemas.microsoft.com/office/drawing/2014/main" id="{FD4EFF20-4CAC-2966-4CFA-2417593C5CD4}"/>
              </a:ext>
            </a:extLst>
          </p:cNvPr>
          <p:cNvSpPr/>
          <p:nvPr/>
        </p:nvSpPr>
        <p:spPr>
          <a:xfrm>
            <a:off x="7104888" y="1755648"/>
            <a:ext cx="182880" cy="201168"/>
          </a:xfrm>
          <a:prstGeom prst="rightArrow">
            <a:avLst/>
          </a:prstGeom>
          <a:solidFill>
            <a:srgbClr val="5560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Rounded Corners 15">
            <a:extLst>
              <a:ext uri="{FF2B5EF4-FFF2-40B4-BE49-F238E27FC236}">
                <a16:creationId xmlns:a16="http://schemas.microsoft.com/office/drawing/2014/main" id="{EDD434A7-8BF4-2933-2A86-BC17BF651144}"/>
              </a:ext>
            </a:extLst>
          </p:cNvPr>
          <p:cNvSpPr/>
          <p:nvPr/>
        </p:nvSpPr>
        <p:spPr>
          <a:xfrm>
            <a:off x="7324344" y="1325880"/>
            <a:ext cx="2011680" cy="105156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TextBox 16">
            <a:extLst>
              <a:ext uri="{FF2B5EF4-FFF2-40B4-BE49-F238E27FC236}">
                <a16:creationId xmlns:a16="http://schemas.microsoft.com/office/drawing/2014/main" id="{D64E93A6-8AF0-3197-910A-7CACD5B9DC7A}"/>
              </a:ext>
            </a:extLst>
          </p:cNvPr>
          <p:cNvSpPr txBox="1"/>
          <p:nvPr/>
        </p:nvSpPr>
        <p:spPr>
          <a:xfrm>
            <a:off x="7461504" y="1444752"/>
            <a:ext cx="17373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Tuning</a:t>
            </a:r>
          </a:p>
        </p:txBody>
      </p:sp>
      <p:sp>
        <p:nvSpPr>
          <p:cNvPr id="18" name="TextBox 17">
            <a:extLst>
              <a:ext uri="{FF2B5EF4-FFF2-40B4-BE49-F238E27FC236}">
                <a16:creationId xmlns:a16="http://schemas.microsoft.com/office/drawing/2014/main" id="{88460138-234D-8427-175D-55F1DB26F84A}"/>
              </a:ext>
            </a:extLst>
          </p:cNvPr>
          <p:cNvSpPr txBox="1"/>
          <p:nvPr/>
        </p:nvSpPr>
        <p:spPr>
          <a:xfrm>
            <a:off x="7461504" y="1828800"/>
            <a:ext cx="1737360" cy="276999"/>
          </a:xfrm>
          <a:prstGeom prst="rect">
            <a:avLst/>
          </a:prstGeom>
          <a:noFill/>
        </p:spPr>
        <p:txBody>
          <a:bodyPr vert="horz" wrap="square" lIns="0" tIns="0" rIns="0" bIns="0" rtlCol="0">
            <a:noAutofit/>
          </a:bodyPr>
          <a:lstStyle/>
          <a:p>
            <a:r>
              <a:rPr lang="en-IN" sz="1100" dirty="0" err="1">
                <a:solidFill>
                  <a:srgbClr val="1C2430"/>
                </a:solidFill>
                <a:latin typeface="Calibri" panose="020F0502020204030204" pitchFamily="34" charset="0"/>
              </a:rPr>
              <a:t>TrainValidationSplit</a:t>
            </a:r>
            <a:r>
              <a:rPr lang="en-IN" sz="1100" dirty="0">
                <a:solidFill>
                  <a:srgbClr val="1C2430"/>
                </a:solidFill>
                <a:latin typeface="Calibri" panose="020F0502020204030204" pitchFamily="34" charset="0"/>
              </a:rPr>
              <a:t> 75/25, benign F1</a:t>
            </a:r>
          </a:p>
        </p:txBody>
      </p:sp>
      <p:sp>
        <p:nvSpPr>
          <p:cNvPr id="19" name="Arrow: Right 18">
            <a:extLst>
              <a:ext uri="{FF2B5EF4-FFF2-40B4-BE49-F238E27FC236}">
                <a16:creationId xmlns:a16="http://schemas.microsoft.com/office/drawing/2014/main" id="{777B9C40-76A8-35D2-4060-521D8E792DAF}"/>
              </a:ext>
            </a:extLst>
          </p:cNvPr>
          <p:cNvSpPr/>
          <p:nvPr/>
        </p:nvSpPr>
        <p:spPr>
          <a:xfrm>
            <a:off x="9363456" y="1755648"/>
            <a:ext cx="182881" cy="201168"/>
          </a:xfrm>
          <a:prstGeom prst="rightArrow">
            <a:avLst/>
          </a:prstGeom>
          <a:solidFill>
            <a:srgbClr val="55606E"/>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Rounded Corners 19">
            <a:extLst>
              <a:ext uri="{FF2B5EF4-FFF2-40B4-BE49-F238E27FC236}">
                <a16:creationId xmlns:a16="http://schemas.microsoft.com/office/drawing/2014/main" id="{B8659FB2-C917-4E53-8488-1045C2FCBD06}"/>
              </a:ext>
            </a:extLst>
          </p:cNvPr>
          <p:cNvSpPr/>
          <p:nvPr/>
        </p:nvSpPr>
        <p:spPr>
          <a:xfrm>
            <a:off x="9582912" y="1325880"/>
            <a:ext cx="2011680" cy="105156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8C6AD95F-99F5-68D8-50CF-E10706B97FE6}"/>
              </a:ext>
            </a:extLst>
          </p:cNvPr>
          <p:cNvSpPr txBox="1"/>
          <p:nvPr/>
        </p:nvSpPr>
        <p:spPr>
          <a:xfrm>
            <a:off x="9720072" y="1444752"/>
            <a:ext cx="17373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5 models</a:t>
            </a:r>
          </a:p>
        </p:txBody>
      </p:sp>
      <p:sp>
        <p:nvSpPr>
          <p:cNvPr id="22" name="TextBox 21">
            <a:extLst>
              <a:ext uri="{FF2B5EF4-FFF2-40B4-BE49-F238E27FC236}">
                <a16:creationId xmlns:a16="http://schemas.microsoft.com/office/drawing/2014/main" id="{77198D16-096F-B974-3CEA-40061006C805}"/>
              </a:ext>
            </a:extLst>
          </p:cNvPr>
          <p:cNvSpPr txBox="1"/>
          <p:nvPr/>
        </p:nvSpPr>
        <p:spPr>
          <a:xfrm>
            <a:off x="9720072" y="1828800"/>
            <a:ext cx="1737360" cy="276999"/>
          </a:xfrm>
          <a:prstGeom prst="rect">
            <a:avLst/>
          </a:prstGeom>
          <a:noFill/>
        </p:spPr>
        <p:txBody>
          <a:bodyPr vert="horz" wrap="square" lIns="0" tIns="0" rIns="0" bIns="0" rtlCol="0">
            <a:noAutofit/>
          </a:bodyPr>
          <a:lstStyle/>
          <a:p>
            <a:r>
              <a:rPr lang="en-IN" sz="1100">
                <a:solidFill>
                  <a:srgbClr val="1C2430"/>
                </a:solidFill>
                <a:latin typeface="Calibri" panose="020F0502020204030204" pitchFamily="34" charset="0"/>
              </a:rPr>
              <a:t>saved to HDFS</a:t>
            </a:r>
          </a:p>
        </p:txBody>
      </p:sp>
      <p:graphicFrame>
        <p:nvGraphicFramePr>
          <p:cNvPr id="23" name="Table 22">
            <a:extLst>
              <a:ext uri="{FF2B5EF4-FFF2-40B4-BE49-F238E27FC236}">
                <a16:creationId xmlns:a16="http://schemas.microsoft.com/office/drawing/2014/main" id="{C4C34D0D-C714-8CD5-4E57-8D9901A23221}"/>
              </a:ext>
            </a:extLst>
          </p:cNvPr>
          <p:cNvGraphicFramePr>
            <a:graphicFrameLocks noGrp="1"/>
          </p:cNvGraphicFramePr>
          <p:nvPr>
            <p:extLst>
              <p:ext uri="{D42A27DB-BD31-4B8C-83A1-F6EECF244321}">
                <p14:modId xmlns:p14="http://schemas.microsoft.com/office/powerpoint/2010/main" val="1914448218"/>
              </p:ext>
            </p:extLst>
          </p:nvPr>
        </p:nvGraphicFramePr>
        <p:xfrm>
          <a:off x="548640" y="2697480"/>
          <a:ext cx="11091672" cy="1645920"/>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74389473"/>
                    </a:ext>
                  </a:extLst>
                </a:gridCol>
                <a:gridCol w="3657600">
                  <a:extLst>
                    <a:ext uri="{9D8B030D-6E8A-4147-A177-3AD203B41FA5}">
                      <a16:colId xmlns:a16="http://schemas.microsoft.com/office/drawing/2014/main" val="889184676"/>
                    </a:ext>
                  </a:extLst>
                </a:gridCol>
                <a:gridCol w="2926080">
                  <a:extLst>
                    <a:ext uri="{9D8B030D-6E8A-4147-A177-3AD203B41FA5}">
                      <a16:colId xmlns:a16="http://schemas.microsoft.com/office/drawing/2014/main" val="3744113875"/>
                    </a:ext>
                  </a:extLst>
                </a:gridCol>
                <a:gridCol w="2130552">
                  <a:extLst>
                    <a:ext uri="{9D8B030D-6E8A-4147-A177-3AD203B41FA5}">
                      <a16:colId xmlns:a16="http://schemas.microsoft.com/office/drawing/2014/main" val="2531921158"/>
                    </a:ext>
                  </a:extLst>
                </a:gridCol>
              </a:tblGrid>
              <a:tr h="256032">
                <a:tc>
                  <a:txBody>
                    <a:bodyPr/>
                    <a:lstStyle/>
                    <a:p>
                      <a:r>
                        <a:rPr lang="en-IN" sz="1300" b="1">
                          <a:solidFill>
                            <a:srgbClr val="FFFFFF"/>
                          </a:solidFill>
                          <a:latin typeface="Calibri" panose="020F0502020204030204" pitchFamily="34" charset="0"/>
                        </a:rPr>
                        <a:t>Model</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300" b="1" dirty="0">
                          <a:solidFill>
                            <a:srgbClr val="FFFFFF"/>
                          </a:solidFill>
                          <a:latin typeface="Calibri" panose="020F0502020204030204" pitchFamily="34" charset="0"/>
                        </a:rPr>
                        <a:t>Settings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300" b="1">
                          <a:solidFill>
                            <a:srgbClr val="FFFFFF"/>
                          </a:solidFill>
                          <a:latin typeface="Calibri" panose="020F0502020204030204" pitchFamily="34" charset="0"/>
                        </a:rPr>
                        <a:t>Tuned over</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tc>
                  <a:txBody>
                    <a:bodyPr/>
                    <a:lstStyle/>
                    <a:p>
                      <a:r>
                        <a:rPr lang="en-IN" sz="1300" b="1">
                          <a:solidFill>
                            <a:srgbClr val="FFFFFF"/>
                          </a:solidFill>
                          <a:latin typeface="Calibri" panose="020F0502020204030204" pitchFamily="34" charset="0"/>
                        </a:rPr>
                        <a:t>Chosen</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5F7F95"/>
                    </a:solidFill>
                  </a:tcPr>
                </a:tc>
                <a:extLst>
                  <a:ext uri="{0D108BD9-81ED-4DB2-BD59-A6C34878D82A}">
                    <a16:rowId xmlns:a16="http://schemas.microsoft.com/office/drawing/2014/main" val="962984914"/>
                  </a:ext>
                </a:extLst>
              </a:tr>
              <a:tr h="256032">
                <a:tc>
                  <a:txBody>
                    <a:bodyPr/>
                    <a:lstStyle/>
                    <a:p>
                      <a:r>
                        <a:rPr lang="en-IN" sz="1300" b="1">
                          <a:solidFill>
                            <a:srgbClr val="1C2430"/>
                          </a:solidFill>
                          <a:latin typeface="Calibri" panose="020F0502020204030204" pitchFamily="34" charset="0"/>
                        </a:rPr>
                        <a:t>Logistic regression</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100 iterations, class weights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1676414811"/>
                  </a:ext>
                </a:extLst>
              </a:tr>
              <a:tr h="256032">
                <a:tc>
                  <a:txBody>
                    <a:bodyPr/>
                    <a:lstStyle/>
                    <a:p>
                      <a:r>
                        <a:rPr lang="en-IN" sz="1300" b="1">
                          <a:solidFill>
                            <a:srgbClr val="1C2430"/>
                          </a:solidFill>
                          <a:latin typeface="Calibri" panose="020F0502020204030204" pitchFamily="34" charset="0"/>
                        </a:rPr>
                        <a:t>Decision tree</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depth 12, class weights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224603202"/>
                  </a:ext>
                </a:extLst>
              </a:tr>
              <a:tr h="256032">
                <a:tc>
                  <a:txBody>
                    <a:bodyPr/>
                    <a:lstStyle/>
                    <a:p>
                      <a:r>
                        <a:rPr lang="en-IN" sz="1300" b="1">
                          <a:solidFill>
                            <a:srgbClr val="1C2430"/>
                          </a:solidFill>
                          <a:latin typeface="Calibri" panose="020F0502020204030204" pitchFamily="34" charset="0"/>
                        </a:rPr>
                        <a:t>Random forest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subsampling 0.8, class weights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300" b="0">
                          <a:solidFill>
                            <a:srgbClr val="1C2430"/>
                          </a:solidFill>
                          <a:latin typeface="Calibri" panose="020F0502020204030204" pitchFamily="34" charset="0"/>
                        </a:rPr>
                        <a:t>depth 8, 12, 16 x trees 50, 100</a:t>
                      </a:r>
                      <a:endParaRPr lang="en-IN" sz="13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depth 16, 100 trees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613368235"/>
                  </a:ext>
                </a:extLst>
              </a:tr>
              <a:tr h="256032">
                <a:tc>
                  <a:txBody>
                    <a:bodyPr/>
                    <a:lstStyle/>
                    <a:p>
                      <a:r>
                        <a:rPr lang="en-IN" sz="1300" b="1">
                          <a:solidFill>
                            <a:srgbClr val="1C2430"/>
                          </a:solidFill>
                          <a:latin typeface="Calibri" panose="020F0502020204030204" pitchFamily="34" charset="0"/>
                        </a:rPr>
                        <a:t>Gradient-boosted trees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class weights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US" sz="1300" b="0">
                          <a:solidFill>
                            <a:srgbClr val="1C2430"/>
                          </a:solidFill>
                          <a:latin typeface="Calibri" panose="020F0502020204030204" pitchFamily="34" charset="0"/>
                        </a:rPr>
                        <a:t>depth 4, 6 x rounds 20, 40</a:t>
                      </a:r>
                      <a:endParaRPr lang="en-IN" sz="1300" b="0">
                        <a:solidFill>
                          <a:srgbClr val="1C2430"/>
                        </a:solidFill>
                        <a:latin typeface="Calibri" panose="020F0502020204030204" pitchFamily="34" charset="0"/>
                      </a:endParaRP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depth 6, 40 rounds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3836423932"/>
                  </a:ext>
                </a:extLst>
              </a:tr>
              <a:tr h="256032">
                <a:tc>
                  <a:txBody>
                    <a:bodyPr/>
                    <a:lstStyle/>
                    <a:p>
                      <a:r>
                        <a:rPr lang="en-IN" sz="1300" b="1">
                          <a:solidFill>
                            <a:srgbClr val="1C2430"/>
                          </a:solidFill>
                          <a:latin typeface="Calibri" panose="020F0502020204030204" pitchFamily="34" charset="0"/>
                        </a:rPr>
                        <a:t>Neural network (MLP)</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55-64-32-2, </a:t>
                      </a:r>
                      <a:r>
                        <a:rPr lang="en-IN" sz="1300" b="0" dirty="0" err="1">
                          <a:solidFill>
                            <a:srgbClr val="1C2430"/>
                          </a:solidFill>
                          <a:latin typeface="Calibri" panose="020F0502020204030204" pitchFamily="34" charset="0"/>
                        </a:rPr>
                        <a:t>StandardScaler</a:t>
                      </a:r>
                      <a:r>
                        <a:rPr lang="en-IN" sz="1300" b="0" dirty="0">
                          <a:solidFill>
                            <a:srgbClr val="1C2430"/>
                          </a:solidFill>
                          <a:latin typeface="Calibri" panose="020F0502020204030204" pitchFamily="34" charset="0"/>
                        </a:rPr>
                        <a:t>, 100 iterations</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tc>
                  <a:txBody>
                    <a:bodyPr/>
                    <a:lstStyle/>
                    <a:p>
                      <a:r>
                        <a:rPr lang="en-IN" sz="1300" b="0" dirty="0">
                          <a:solidFill>
                            <a:srgbClr val="1C2430"/>
                          </a:solidFill>
                          <a:latin typeface="Calibri" panose="020F0502020204030204" pitchFamily="34" charset="0"/>
                        </a:rPr>
                        <a:t>-</a:t>
                      </a:r>
                    </a:p>
                  </a:txBody>
                  <a:tcPr marL="63500" marR="63500" marT="38100" marB="38100">
                    <a:lnL w="9525" cmpd="sng">
                      <a:solidFill>
                        <a:srgbClr val="D5DBE2"/>
                      </a:solidFill>
                    </a:lnL>
                    <a:lnR w="9525" cmpd="sng">
                      <a:solidFill>
                        <a:srgbClr val="D5DBE2"/>
                      </a:solidFill>
                    </a:lnR>
                    <a:lnT w="9525" cmpd="sng">
                      <a:solidFill>
                        <a:srgbClr val="D5DBE2"/>
                      </a:solidFill>
                    </a:lnT>
                    <a:lnB w="9525" cmpd="sng">
                      <a:solidFill>
                        <a:srgbClr val="D5DBE2"/>
                      </a:solidFill>
                    </a:lnB>
                    <a:solidFill>
                      <a:srgbClr val="FFFFFF"/>
                    </a:solidFill>
                  </a:tcPr>
                </a:tc>
                <a:extLst>
                  <a:ext uri="{0D108BD9-81ED-4DB2-BD59-A6C34878D82A}">
                    <a16:rowId xmlns:a16="http://schemas.microsoft.com/office/drawing/2014/main" val="1176387892"/>
                  </a:ext>
                </a:extLst>
              </a:tr>
            </a:tbl>
          </a:graphicData>
        </a:graphic>
      </p:graphicFrame>
    </p:spTree>
    <p:extLst>
      <p:ext uri="{BB962C8B-B14F-4D97-AF65-F5344CB8AC3E}">
        <p14:creationId xmlns:p14="http://schemas.microsoft.com/office/powerpoint/2010/main" val="30289724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dirty="0"/>
              <a:t>Models </a:t>
            </a:r>
          </a:p>
        </p:txBody>
      </p:sp>
      <p:sp>
        <p:nvSpPr>
          <p:cNvPr id="4" name="Text 1"/>
          <p:cNvSpPr txBox="1"/>
          <p:nvPr/>
        </p:nvSpPr>
        <p:spPr>
          <a:xfrm>
            <a:off x="548640" y="1417320"/>
            <a:ext cx="4114800" cy="4114800"/>
          </a:xfrm>
          <a:prstGeom prst="rect">
            <a:avLst/>
          </a:prstGeom>
          <a:noFill/>
          <a:ln/>
        </p:spPr>
        <p:txBody>
          <a:bodyPr wrap="square" lIns="0" tIns="0" rIns="0" bIns="0" rtlCol="0" anchor="t"/>
          <a:lstStyle/>
          <a:p>
            <a:pPr marL="342900" indent="-342900">
              <a:spcAft>
                <a:spcPts val="1400"/>
              </a:spcAft>
              <a:buSzPct val="100000"/>
              <a:buChar char="•"/>
            </a:pPr>
            <a:r>
              <a:rPr lang="en-US" sz="1600" dirty="0">
                <a:solidFill>
                  <a:schemeClr val="tx1"/>
                </a:solidFill>
              </a:rPr>
              <a:t>Five Spark MLlib models, trained on day 1 of CIC-DDoS2019</a:t>
            </a:r>
            <a:endParaRPr lang="en-US" sz="1600" dirty="0"/>
          </a:p>
          <a:p>
            <a:pPr marL="342900" indent="-342900">
              <a:spcAft>
                <a:spcPts val="1400"/>
              </a:spcAft>
              <a:buSzPct val="100000"/>
              <a:buChar char="•"/>
            </a:pPr>
            <a:r>
              <a:rPr lang="en-US" sz="1600" dirty="0">
                <a:solidFill>
                  <a:schemeClr val="tx1"/>
                </a:solidFill>
              </a:rPr>
              <a:t>Tested on the same day, every model scores 0.89 to 0.98</a:t>
            </a:r>
            <a:endParaRPr lang="en-US" sz="1600" dirty="0"/>
          </a:p>
          <a:p>
            <a:pPr marL="342900" indent="-342900">
              <a:spcAft>
                <a:spcPts val="1400"/>
              </a:spcAft>
              <a:buSzPct val="100000"/>
              <a:buChar char="•"/>
            </a:pPr>
            <a:r>
              <a:rPr lang="en-US" sz="1600" dirty="0">
                <a:solidFill>
                  <a:schemeClr val="tx1"/>
                </a:solidFill>
              </a:rPr>
              <a:t>Tested on day 2, four of them collapse. Gradient-boosted trees fall to 0.49 and miss 2.5 million attacks</a:t>
            </a:r>
            <a:endParaRPr lang="en-US" sz="1600" dirty="0"/>
          </a:p>
          <a:p>
            <a:pPr marL="342900" indent="-342900">
              <a:spcAft>
                <a:spcPts val="1400"/>
              </a:spcAft>
              <a:buSzPct val="100000"/>
              <a:buChar char="•"/>
            </a:pPr>
            <a:r>
              <a:rPr lang="en-US" sz="1600" dirty="0">
                <a:solidFill>
                  <a:schemeClr val="tx1"/>
                </a:solidFill>
              </a:rPr>
              <a:t>Only the random forest holds up, and it is the slowest model we have</a:t>
            </a:r>
            <a:endParaRPr lang="en-US" sz="1600" dirty="0"/>
          </a:p>
        </p:txBody>
      </p:sp>
      <p:graphicFrame>
        <p:nvGraphicFramePr>
          <p:cNvPr id="5" name="Chart 0"/>
          <p:cNvGraphicFramePr/>
          <p:nvPr/>
        </p:nvGraphicFramePr>
        <p:xfrm>
          <a:off x="5029200" y="1325880"/>
          <a:ext cx="66294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dirty="0"/>
              <a:t>Inference from the dataset</a:t>
            </a:r>
          </a:p>
        </p:txBody>
      </p:sp>
      <p:sp>
        <p:nvSpPr>
          <p:cNvPr id="4" name="Text 1"/>
          <p:cNvSpPr txBox="1"/>
          <p:nvPr/>
        </p:nvSpPr>
        <p:spPr>
          <a:xfrm>
            <a:off x="548640" y="1463040"/>
            <a:ext cx="3291840" cy="777240"/>
          </a:xfrm>
          <a:prstGeom prst="rect">
            <a:avLst/>
          </a:prstGeom>
          <a:noFill/>
          <a:ln/>
        </p:spPr>
        <p:txBody>
          <a:bodyPr wrap="square" lIns="0" tIns="0" rIns="0" bIns="0" rtlCol="0" anchor="t"/>
          <a:lstStyle/>
          <a:p>
            <a:pPr marL="0" indent="0">
              <a:buNone/>
            </a:pPr>
            <a:r>
              <a:rPr lang="en-US" sz="4000" b="1" dirty="0">
                <a:solidFill>
                  <a:schemeClr val="accent3"/>
                </a:solidFill>
                <a:latin typeface="Cambria" pitchFamily="34" charset="0"/>
                <a:ea typeface="Cambria" pitchFamily="34" charset="-122"/>
                <a:cs typeface="Cambria" pitchFamily="34" charset="-120"/>
              </a:rPr>
              <a:t>22.6%</a:t>
            </a:r>
            <a:endParaRPr lang="en-US" sz="4000" dirty="0"/>
          </a:p>
        </p:txBody>
      </p:sp>
      <p:sp>
        <p:nvSpPr>
          <p:cNvPr id="5" name="Text 2"/>
          <p:cNvSpPr txBox="1"/>
          <p:nvPr/>
        </p:nvSpPr>
        <p:spPr>
          <a:xfrm>
            <a:off x="548640" y="2240280"/>
            <a:ext cx="3291840" cy="685800"/>
          </a:xfrm>
          <a:prstGeom prst="rect">
            <a:avLst/>
          </a:prstGeom>
          <a:noFill/>
          <a:ln/>
        </p:spPr>
        <p:txBody>
          <a:bodyPr wrap="square" lIns="0" tIns="0" rIns="0" bIns="0" rtlCol="0" anchor="t"/>
          <a:lstStyle/>
          <a:p>
            <a:pPr marL="0" indent="0">
              <a:buNone/>
            </a:pPr>
            <a:r>
              <a:rPr lang="en-US" sz="1300" dirty="0">
                <a:solidFill>
                  <a:schemeClr val="tx1"/>
                </a:solidFill>
              </a:rPr>
              <a:t>of day-2 traffic looks unfamiliar to the K-Means gate</a:t>
            </a:r>
            <a:endParaRPr lang="en-US" sz="1300" dirty="0"/>
          </a:p>
        </p:txBody>
      </p:sp>
      <p:sp>
        <p:nvSpPr>
          <p:cNvPr id="6" name="Text 3"/>
          <p:cNvSpPr txBox="1"/>
          <p:nvPr/>
        </p:nvSpPr>
        <p:spPr>
          <a:xfrm>
            <a:off x="548640" y="2971800"/>
            <a:ext cx="3291840" cy="777240"/>
          </a:xfrm>
          <a:prstGeom prst="rect">
            <a:avLst/>
          </a:prstGeom>
          <a:noFill/>
          <a:ln/>
        </p:spPr>
        <p:txBody>
          <a:bodyPr wrap="square" lIns="0" tIns="0" rIns="0" bIns="0" rtlCol="0" anchor="t"/>
          <a:lstStyle/>
          <a:p>
            <a:pPr marL="0" indent="0">
              <a:buNone/>
            </a:pPr>
            <a:r>
              <a:rPr lang="en-US" sz="4000" b="1" dirty="0">
                <a:solidFill>
                  <a:schemeClr val="accent2"/>
                </a:solidFill>
                <a:latin typeface="Cambria" pitchFamily="34" charset="0"/>
                <a:ea typeface="Cambria" pitchFamily="34" charset="-122"/>
                <a:cs typeface="Cambria" pitchFamily="34" charset="-120"/>
              </a:rPr>
              <a:t>96–99.9%</a:t>
            </a:r>
            <a:endParaRPr lang="en-US" sz="4000" dirty="0"/>
          </a:p>
        </p:txBody>
      </p:sp>
      <p:sp>
        <p:nvSpPr>
          <p:cNvPr id="7" name="Text 4"/>
          <p:cNvSpPr txBox="1"/>
          <p:nvPr/>
        </p:nvSpPr>
        <p:spPr>
          <a:xfrm>
            <a:off x="548640" y="3749040"/>
            <a:ext cx="3291840" cy="685800"/>
          </a:xfrm>
          <a:prstGeom prst="rect">
            <a:avLst/>
          </a:prstGeom>
          <a:noFill/>
          <a:ln/>
        </p:spPr>
        <p:txBody>
          <a:bodyPr wrap="square" lIns="0" tIns="0" rIns="0" bIns="0" rtlCol="0" anchor="t"/>
          <a:lstStyle/>
          <a:p>
            <a:pPr marL="0" indent="0">
              <a:buNone/>
            </a:pPr>
            <a:r>
              <a:rPr lang="en-US" sz="1300" dirty="0">
                <a:solidFill>
                  <a:schemeClr val="tx1"/>
                </a:solidFill>
              </a:rPr>
              <a:t>of every model's mistakes are in that part</a:t>
            </a:r>
            <a:endParaRPr lang="en-US" sz="1300" dirty="0"/>
          </a:p>
        </p:txBody>
      </p:sp>
      <p:sp>
        <p:nvSpPr>
          <p:cNvPr id="8" name="Text 5"/>
          <p:cNvSpPr txBox="1"/>
          <p:nvPr/>
        </p:nvSpPr>
        <p:spPr>
          <a:xfrm>
            <a:off x="548640" y="4526280"/>
            <a:ext cx="3291840" cy="1188720"/>
          </a:xfrm>
          <a:prstGeom prst="rect">
            <a:avLst/>
          </a:prstGeom>
          <a:noFill/>
          <a:ln/>
        </p:spPr>
        <p:txBody>
          <a:bodyPr wrap="square" lIns="0" tIns="0" rIns="0" bIns="0" rtlCol="0" anchor="t"/>
          <a:lstStyle/>
          <a:p>
            <a:pPr marL="0" indent="0">
              <a:buNone/>
            </a:pPr>
            <a:r>
              <a:rPr lang="en-US" sz="1300" dirty="0">
                <a:solidFill>
                  <a:srgbClr val="55606E"/>
                </a:solidFill>
              </a:rPr>
              <a:t>A connection is unfamiliar when it is further from all 50 day-1 cluster centres than 99% of day-1 traffic (distance 5.60).</a:t>
            </a:r>
            <a:endParaRPr lang="en-US" sz="1300" dirty="0"/>
          </a:p>
        </p:txBody>
      </p:sp>
      <p:pic>
        <p:nvPicPr>
          <p:cNvPr id="9" name="Image 0" descr="C:/Users/scien/Downloads/ddos-study-guide/img/05-router-gate.png"/>
          <p:cNvPicPr>
            <a:picLocks noChangeAspect="1"/>
          </p:cNvPicPr>
          <p:nvPr/>
        </p:nvPicPr>
        <p:blipFill>
          <a:blip r:embed="rId3"/>
          <a:stretch>
            <a:fillRect/>
          </a:stretch>
        </p:blipFill>
        <p:spPr>
          <a:xfrm>
            <a:off x="4160520" y="1508760"/>
            <a:ext cx="7479792" cy="3090672"/>
          </a:xfrm>
          <a:prstGeom prst="rect">
            <a:avLst/>
          </a:prstGeom>
        </p:spPr>
      </p:pic>
      <p:sp>
        <p:nvSpPr>
          <p:cNvPr id="10" name="Text 6"/>
          <p:cNvSpPr txBox="1"/>
          <p:nvPr/>
        </p:nvSpPr>
        <p:spPr>
          <a:xfrm>
            <a:off x="4160520" y="4709160"/>
            <a:ext cx="7479792" cy="548640"/>
          </a:xfrm>
          <a:prstGeom prst="rect">
            <a:avLst/>
          </a:prstGeom>
          <a:noFill/>
          <a:ln/>
        </p:spPr>
        <p:txBody>
          <a:bodyPr wrap="square" lIns="0" tIns="0" rIns="0" bIns="0" rtlCol="0" anchor="t"/>
          <a:lstStyle/>
          <a:p>
            <a:pPr marL="0" indent="0">
              <a:buNone/>
            </a:pPr>
            <a:r>
              <a:rPr lang="en-US" sz="1200" dirty="0">
                <a:solidFill>
                  <a:srgbClr val="55606E"/>
                </a:solidFill>
              </a:rPr>
              <a:t>The gate on our dashboard: day-1 traffic, its cluster centres, and one Syn flood connection measured at 12.95, far beyond the 5.60 limit.</a:t>
            </a:r>
            <a:endParaRPr lang="en-US" sz="12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b="1" dirty="0">
                <a:solidFill>
                  <a:schemeClr val="tx1"/>
                </a:solidFill>
              </a:rPr>
              <a:t>Idea 1: let the cheap model answer only what it knows</a:t>
            </a:r>
            <a:endParaRPr lang="en-US" sz="3000" dirty="0"/>
          </a:p>
        </p:txBody>
      </p:sp>
      <p:sp>
        <p:nvSpPr>
          <p:cNvPr id="4" name="Shape 1"/>
          <p:cNvSpPr/>
          <p:nvPr/>
        </p:nvSpPr>
        <p:spPr>
          <a:xfrm>
            <a:off x="548640" y="2697480"/>
            <a:ext cx="1371600" cy="777240"/>
          </a:xfrm>
          <a:prstGeom prst="roundRect">
            <a:avLst>
              <a:gd name="adj" fmla="val 7059"/>
            </a:avLst>
          </a:prstGeom>
          <a:solidFill>
            <a:srgbClr val="EEF1F8"/>
          </a:solidFill>
          <a:ln w="15875">
            <a:solidFill>
              <a:srgbClr val="6F8FD0"/>
            </a:solidFill>
            <a:prstDash val="solid"/>
          </a:ln>
        </p:spPr>
        <p:txBody>
          <a:bodyPr/>
          <a:lstStyle/>
          <a:p>
            <a:endParaRPr lang="en-IN"/>
          </a:p>
        </p:txBody>
      </p:sp>
      <p:sp>
        <p:nvSpPr>
          <p:cNvPr id="5" name="Text 2"/>
          <p:cNvSpPr txBox="1"/>
          <p:nvPr/>
        </p:nvSpPr>
        <p:spPr>
          <a:xfrm>
            <a:off x="548640" y="2697480"/>
            <a:ext cx="137160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Connection</a:t>
            </a:r>
            <a:endParaRPr lang="en-US" sz="1400" dirty="0"/>
          </a:p>
          <a:p>
            <a:pPr marL="0" indent="0" algn="ctr">
              <a:buNone/>
            </a:pPr>
            <a:r>
              <a:rPr lang="en-US" sz="1100" dirty="0">
                <a:solidFill>
                  <a:srgbClr val="55606E"/>
                </a:solidFill>
              </a:rPr>
              <a:t>from Kafka</a:t>
            </a:r>
            <a:endParaRPr lang="en-US" sz="1400" dirty="0"/>
          </a:p>
        </p:txBody>
      </p:sp>
      <p:sp>
        <p:nvSpPr>
          <p:cNvPr id="6" name="Shape 3"/>
          <p:cNvSpPr/>
          <p:nvPr/>
        </p:nvSpPr>
        <p:spPr>
          <a:xfrm>
            <a:off x="2286000" y="2697480"/>
            <a:ext cx="1371600" cy="777240"/>
          </a:xfrm>
          <a:prstGeom prst="roundRect">
            <a:avLst>
              <a:gd name="adj" fmla="val 7059"/>
            </a:avLst>
          </a:prstGeom>
          <a:solidFill>
            <a:srgbClr val="FBF1E1"/>
          </a:solidFill>
          <a:ln w="15875">
            <a:solidFill>
              <a:srgbClr val="D99A2B"/>
            </a:solidFill>
            <a:prstDash val="solid"/>
          </a:ln>
        </p:spPr>
        <p:txBody>
          <a:bodyPr/>
          <a:lstStyle/>
          <a:p>
            <a:endParaRPr lang="en-IN"/>
          </a:p>
        </p:txBody>
      </p:sp>
      <p:sp>
        <p:nvSpPr>
          <p:cNvPr id="7" name="Text 4"/>
          <p:cNvSpPr txBox="1"/>
          <p:nvPr/>
        </p:nvSpPr>
        <p:spPr>
          <a:xfrm>
            <a:off x="2286000" y="2697480"/>
            <a:ext cx="137160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Gate</a:t>
            </a:r>
            <a:endParaRPr lang="en-US" sz="1400" dirty="0"/>
          </a:p>
          <a:p>
            <a:pPr marL="0" indent="0" algn="ctr">
              <a:buNone/>
            </a:pPr>
            <a:r>
              <a:rPr lang="en-US" sz="1100" dirty="0">
                <a:solidFill>
                  <a:srgbClr val="55606E"/>
                </a:solidFill>
              </a:rPr>
              <a:t>how familiar?</a:t>
            </a:r>
            <a:endParaRPr lang="en-US" sz="1400" dirty="0"/>
          </a:p>
        </p:txBody>
      </p:sp>
      <p:sp>
        <p:nvSpPr>
          <p:cNvPr id="8" name="Shape 5"/>
          <p:cNvSpPr/>
          <p:nvPr/>
        </p:nvSpPr>
        <p:spPr>
          <a:xfrm>
            <a:off x="4069080" y="1691640"/>
            <a:ext cx="1508760" cy="777240"/>
          </a:xfrm>
          <a:prstGeom prst="roundRect">
            <a:avLst>
              <a:gd name="adj" fmla="val 7059"/>
            </a:avLst>
          </a:prstGeom>
          <a:solidFill>
            <a:srgbClr val="EEF1F5"/>
          </a:solidFill>
          <a:ln w="15875">
            <a:solidFill>
              <a:srgbClr val="B8C2CF"/>
            </a:solidFill>
            <a:prstDash val="solid"/>
          </a:ln>
        </p:spPr>
        <p:txBody>
          <a:bodyPr/>
          <a:lstStyle/>
          <a:p>
            <a:endParaRPr lang="en-IN"/>
          </a:p>
        </p:txBody>
      </p:sp>
      <p:sp>
        <p:nvSpPr>
          <p:cNvPr id="9" name="Text 6"/>
          <p:cNvSpPr txBox="1"/>
          <p:nvPr/>
        </p:nvSpPr>
        <p:spPr>
          <a:xfrm>
            <a:off x="4069080" y="1691640"/>
            <a:ext cx="150876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Day-1 model</a:t>
            </a:r>
            <a:endParaRPr lang="en-US" sz="1400" dirty="0"/>
          </a:p>
          <a:p>
            <a:pPr marL="0" indent="0" algn="ctr">
              <a:buNone/>
            </a:pPr>
            <a:r>
              <a:rPr lang="en-US" sz="1100" dirty="0">
                <a:solidFill>
                  <a:srgbClr val="55606E"/>
                </a:solidFill>
              </a:rPr>
              <a:t>familiar · 77.5%</a:t>
            </a:r>
            <a:endParaRPr lang="en-US" sz="1400" dirty="0"/>
          </a:p>
        </p:txBody>
      </p:sp>
      <p:sp>
        <p:nvSpPr>
          <p:cNvPr id="10" name="Shape 7"/>
          <p:cNvSpPr/>
          <p:nvPr/>
        </p:nvSpPr>
        <p:spPr>
          <a:xfrm>
            <a:off x="4069080" y="3703320"/>
            <a:ext cx="1508760" cy="777240"/>
          </a:xfrm>
          <a:prstGeom prst="roundRect">
            <a:avLst>
              <a:gd name="adj" fmla="val 7059"/>
            </a:avLst>
          </a:prstGeom>
          <a:solidFill>
            <a:srgbClr val="E6F2EF"/>
          </a:solidFill>
          <a:ln w="15875">
            <a:solidFill>
              <a:srgbClr val="2E8B7A"/>
            </a:solidFill>
            <a:prstDash val="solid"/>
          </a:ln>
        </p:spPr>
        <p:txBody>
          <a:bodyPr/>
          <a:lstStyle/>
          <a:p>
            <a:endParaRPr lang="en-IN"/>
          </a:p>
        </p:txBody>
      </p:sp>
      <p:sp>
        <p:nvSpPr>
          <p:cNvPr id="11" name="Text 8"/>
          <p:cNvSpPr txBox="1"/>
          <p:nvPr/>
        </p:nvSpPr>
        <p:spPr>
          <a:xfrm>
            <a:off x="4069080" y="3703320"/>
            <a:ext cx="1508760" cy="777240"/>
          </a:xfrm>
          <a:prstGeom prst="rect">
            <a:avLst/>
          </a:prstGeom>
          <a:noFill/>
          <a:ln/>
        </p:spPr>
        <p:txBody>
          <a:bodyPr wrap="square" lIns="508" tIns="508" rIns="508" bIns="508" rtlCol="0" anchor="ctr"/>
          <a:lstStyle/>
          <a:p>
            <a:pPr marL="0" indent="0" algn="ctr">
              <a:buNone/>
            </a:pPr>
            <a:r>
              <a:rPr lang="en-US" sz="1400" b="1" dirty="0">
                <a:solidFill>
                  <a:schemeClr val="tx1"/>
                </a:solidFill>
              </a:rPr>
              <a:t>Random forest</a:t>
            </a:r>
            <a:endParaRPr lang="en-US" sz="1400" dirty="0"/>
          </a:p>
          <a:p>
            <a:pPr marL="0" indent="0" algn="ctr">
              <a:buNone/>
            </a:pPr>
            <a:r>
              <a:rPr lang="en-US" sz="1100" dirty="0">
                <a:solidFill>
                  <a:srgbClr val="55606E"/>
                </a:solidFill>
              </a:rPr>
              <a:t>unfamiliar · 22.5%</a:t>
            </a:r>
            <a:endParaRPr lang="en-US" sz="1400" dirty="0"/>
          </a:p>
        </p:txBody>
      </p:sp>
      <p:sp>
        <p:nvSpPr>
          <p:cNvPr id="12" name="Shape 9"/>
          <p:cNvSpPr/>
          <p:nvPr/>
        </p:nvSpPr>
        <p:spPr>
          <a:xfrm>
            <a:off x="1920240" y="3081528"/>
            <a:ext cx="347472" cy="0"/>
          </a:xfrm>
          <a:prstGeom prst="line">
            <a:avLst/>
          </a:prstGeom>
          <a:noFill/>
          <a:ln w="19050">
            <a:solidFill>
              <a:srgbClr val="55606E"/>
            </a:solidFill>
            <a:prstDash val="solid"/>
            <a:tailEnd type="triangle"/>
          </a:ln>
        </p:spPr>
        <p:txBody>
          <a:bodyPr/>
          <a:lstStyle/>
          <a:p>
            <a:endParaRPr lang="en-IN"/>
          </a:p>
        </p:txBody>
      </p:sp>
      <p:sp>
        <p:nvSpPr>
          <p:cNvPr id="13" name="Shape 10"/>
          <p:cNvSpPr/>
          <p:nvPr/>
        </p:nvSpPr>
        <p:spPr>
          <a:xfrm flipV="1">
            <a:off x="3657600" y="2103120"/>
            <a:ext cx="393192" cy="822960"/>
          </a:xfrm>
          <a:prstGeom prst="line">
            <a:avLst/>
          </a:prstGeom>
          <a:noFill/>
          <a:ln w="19050">
            <a:solidFill>
              <a:srgbClr val="55606E"/>
            </a:solidFill>
            <a:prstDash val="solid"/>
            <a:tailEnd type="triangle"/>
          </a:ln>
        </p:spPr>
        <p:txBody>
          <a:bodyPr/>
          <a:lstStyle/>
          <a:p>
            <a:endParaRPr lang="en-IN"/>
          </a:p>
        </p:txBody>
      </p:sp>
      <p:sp>
        <p:nvSpPr>
          <p:cNvPr id="14" name="Shape 11"/>
          <p:cNvSpPr/>
          <p:nvPr/>
        </p:nvSpPr>
        <p:spPr>
          <a:xfrm>
            <a:off x="3657600" y="3246120"/>
            <a:ext cx="393192" cy="822960"/>
          </a:xfrm>
          <a:prstGeom prst="line">
            <a:avLst/>
          </a:prstGeom>
          <a:noFill/>
          <a:ln w="19050">
            <a:solidFill>
              <a:srgbClr val="55606E"/>
            </a:solidFill>
            <a:prstDash val="solid"/>
            <a:tailEnd type="triangle"/>
          </a:ln>
        </p:spPr>
        <p:txBody>
          <a:bodyPr/>
          <a:lstStyle/>
          <a:p>
            <a:endParaRPr lang="en-IN"/>
          </a:p>
        </p:txBody>
      </p:sp>
      <p:graphicFrame>
        <p:nvGraphicFramePr>
          <p:cNvPr id="16" name="Chart 0"/>
          <p:cNvGraphicFramePr/>
          <p:nvPr/>
        </p:nvGraphicFramePr>
        <p:xfrm>
          <a:off x="5943600" y="1325880"/>
          <a:ext cx="5715000" cy="475488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b="1" dirty="0">
                <a:solidFill>
                  <a:schemeClr val="tx1"/>
                </a:solidFill>
              </a:rPr>
              <a:t>Idea 2: copy the answer from a connection we already know</a:t>
            </a:r>
            <a:endParaRPr lang="en-US" sz="3000" dirty="0"/>
          </a:p>
        </p:txBody>
      </p:sp>
      <p:sp>
        <p:nvSpPr>
          <p:cNvPr id="4" name="Shape 1"/>
          <p:cNvSpPr/>
          <p:nvPr/>
        </p:nvSpPr>
        <p:spPr>
          <a:xfrm>
            <a:off x="548640" y="1874520"/>
            <a:ext cx="1600200" cy="731520"/>
          </a:xfrm>
          <a:prstGeom prst="roundRect">
            <a:avLst>
              <a:gd name="adj" fmla="val 7500"/>
            </a:avLst>
          </a:prstGeom>
          <a:solidFill>
            <a:srgbClr val="EEF1F8"/>
          </a:solidFill>
          <a:ln w="15875">
            <a:solidFill>
              <a:srgbClr val="6F8FD0"/>
            </a:solidFill>
            <a:prstDash val="solid"/>
          </a:ln>
        </p:spPr>
        <p:txBody>
          <a:bodyPr/>
          <a:lstStyle/>
          <a:p>
            <a:endParaRPr lang="en-IN"/>
          </a:p>
        </p:txBody>
      </p:sp>
      <p:sp>
        <p:nvSpPr>
          <p:cNvPr id="5" name="Text 2"/>
          <p:cNvSpPr txBox="1"/>
          <p:nvPr/>
        </p:nvSpPr>
        <p:spPr>
          <a:xfrm>
            <a:off x="548640" y="1874520"/>
            <a:ext cx="1600200" cy="731520"/>
          </a:xfrm>
          <a:prstGeom prst="rect">
            <a:avLst/>
          </a:prstGeom>
          <a:noFill/>
          <a:ln/>
        </p:spPr>
        <p:txBody>
          <a:bodyPr wrap="square" lIns="508" tIns="508" rIns="508" bIns="508" rtlCol="0" anchor="ctr"/>
          <a:lstStyle/>
          <a:p>
            <a:pPr marL="0" indent="0" algn="ctr">
              <a:buNone/>
            </a:pPr>
            <a:r>
              <a:rPr lang="en-US" sz="1400" b="1" dirty="0">
                <a:solidFill>
                  <a:schemeClr val="tx1"/>
                </a:solidFill>
              </a:rPr>
              <a:t>Unfamiliar</a:t>
            </a:r>
            <a:endParaRPr lang="en-US" sz="1400" dirty="0"/>
          </a:p>
          <a:p>
            <a:pPr marL="0" indent="0" algn="ctr">
              <a:buNone/>
            </a:pPr>
            <a:r>
              <a:rPr lang="en-US" sz="1100" dirty="0">
                <a:solidFill>
                  <a:srgbClr val="55606E"/>
                </a:solidFill>
              </a:rPr>
              <a:t>connection</a:t>
            </a:r>
            <a:endParaRPr lang="en-US" sz="1400" dirty="0"/>
          </a:p>
        </p:txBody>
      </p:sp>
      <p:sp>
        <p:nvSpPr>
          <p:cNvPr id="6" name="Shape 3"/>
          <p:cNvSpPr/>
          <p:nvPr/>
        </p:nvSpPr>
        <p:spPr>
          <a:xfrm>
            <a:off x="2560320" y="1874520"/>
            <a:ext cx="1920240" cy="731520"/>
          </a:xfrm>
          <a:prstGeom prst="roundRect">
            <a:avLst>
              <a:gd name="adj" fmla="val 7500"/>
            </a:avLst>
          </a:prstGeom>
          <a:solidFill>
            <a:srgbClr val="FBF1E1"/>
          </a:solidFill>
          <a:ln w="15875">
            <a:solidFill>
              <a:srgbClr val="D99A2B"/>
            </a:solidFill>
            <a:prstDash val="solid"/>
          </a:ln>
        </p:spPr>
        <p:txBody>
          <a:bodyPr/>
          <a:lstStyle/>
          <a:p>
            <a:endParaRPr lang="en-IN"/>
          </a:p>
        </p:txBody>
      </p:sp>
      <p:sp>
        <p:nvSpPr>
          <p:cNvPr id="7" name="Text 4"/>
          <p:cNvSpPr txBox="1"/>
          <p:nvPr/>
        </p:nvSpPr>
        <p:spPr>
          <a:xfrm>
            <a:off x="2560320" y="1874520"/>
            <a:ext cx="1920240" cy="731520"/>
          </a:xfrm>
          <a:prstGeom prst="rect">
            <a:avLst/>
          </a:prstGeom>
          <a:noFill/>
          <a:ln/>
        </p:spPr>
        <p:txBody>
          <a:bodyPr wrap="square" lIns="508" tIns="508" rIns="508" bIns="508" rtlCol="0" anchor="ctr"/>
          <a:lstStyle/>
          <a:p>
            <a:pPr marL="0" indent="0" algn="ctr">
              <a:buNone/>
            </a:pPr>
            <a:r>
              <a:rPr lang="en-US" sz="1400" b="1" dirty="0">
                <a:solidFill>
                  <a:schemeClr val="tx1"/>
                </a:solidFill>
              </a:rPr>
              <a:t>Close to a label?</a:t>
            </a:r>
            <a:endParaRPr lang="en-US" sz="1400" dirty="0"/>
          </a:p>
          <a:p>
            <a:pPr marL="0" indent="0" algn="ctr">
              <a:buNone/>
            </a:pPr>
            <a:r>
              <a:rPr lang="en-US" sz="1100" dirty="0">
                <a:solidFill>
                  <a:srgbClr val="55606E"/>
                </a:solidFill>
              </a:rPr>
              <a:t>same cluster, ≤ 5.60</a:t>
            </a:r>
            <a:endParaRPr lang="en-US" sz="1400" dirty="0"/>
          </a:p>
        </p:txBody>
      </p:sp>
      <p:sp>
        <p:nvSpPr>
          <p:cNvPr id="8" name="Shape 5"/>
          <p:cNvSpPr/>
          <p:nvPr/>
        </p:nvSpPr>
        <p:spPr>
          <a:xfrm>
            <a:off x="4937760" y="1371600"/>
            <a:ext cx="1554480" cy="685800"/>
          </a:xfrm>
          <a:prstGeom prst="roundRect">
            <a:avLst>
              <a:gd name="adj" fmla="val 8000"/>
            </a:avLst>
          </a:prstGeom>
          <a:solidFill>
            <a:srgbClr val="E6F2EF"/>
          </a:solidFill>
          <a:ln w="15875">
            <a:solidFill>
              <a:srgbClr val="2E8B7A"/>
            </a:solidFill>
            <a:prstDash val="solid"/>
          </a:ln>
        </p:spPr>
        <p:txBody>
          <a:bodyPr/>
          <a:lstStyle/>
          <a:p>
            <a:endParaRPr lang="en-IN"/>
          </a:p>
        </p:txBody>
      </p:sp>
      <p:sp>
        <p:nvSpPr>
          <p:cNvPr id="9" name="Text 6"/>
          <p:cNvSpPr txBox="1"/>
          <p:nvPr/>
        </p:nvSpPr>
        <p:spPr>
          <a:xfrm>
            <a:off x="4937760" y="1371600"/>
            <a:ext cx="1554480" cy="685800"/>
          </a:xfrm>
          <a:prstGeom prst="rect">
            <a:avLst/>
          </a:prstGeom>
          <a:noFill/>
          <a:ln/>
        </p:spPr>
        <p:txBody>
          <a:bodyPr wrap="square" lIns="508" tIns="508" rIns="508" bIns="508" rtlCol="0" anchor="ctr"/>
          <a:lstStyle/>
          <a:p>
            <a:pPr marL="0" indent="0" algn="ctr">
              <a:buNone/>
            </a:pPr>
            <a:r>
              <a:rPr lang="en-US" sz="1400" b="1" dirty="0">
                <a:solidFill>
                  <a:schemeClr val="tx1"/>
                </a:solidFill>
              </a:rPr>
              <a:t>Copy its label</a:t>
            </a:r>
            <a:endParaRPr lang="en-US" sz="1400" dirty="0"/>
          </a:p>
        </p:txBody>
      </p:sp>
      <p:sp>
        <p:nvSpPr>
          <p:cNvPr id="10" name="Shape 7"/>
          <p:cNvSpPr/>
          <p:nvPr/>
        </p:nvSpPr>
        <p:spPr>
          <a:xfrm>
            <a:off x="4937760" y="2468880"/>
            <a:ext cx="1554480" cy="685800"/>
          </a:xfrm>
          <a:prstGeom prst="roundRect">
            <a:avLst>
              <a:gd name="adj" fmla="val 8000"/>
            </a:avLst>
          </a:prstGeom>
          <a:solidFill>
            <a:srgbClr val="E6F2EF"/>
          </a:solidFill>
          <a:ln w="15875">
            <a:solidFill>
              <a:srgbClr val="2E8B7A"/>
            </a:solidFill>
            <a:prstDash val="solid"/>
          </a:ln>
        </p:spPr>
        <p:txBody>
          <a:bodyPr/>
          <a:lstStyle/>
          <a:p>
            <a:endParaRPr lang="en-IN"/>
          </a:p>
        </p:txBody>
      </p:sp>
      <p:sp>
        <p:nvSpPr>
          <p:cNvPr id="11" name="Text 8"/>
          <p:cNvSpPr txBox="1"/>
          <p:nvPr/>
        </p:nvSpPr>
        <p:spPr>
          <a:xfrm>
            <a:off x="4937760" y="2468880"/>
            <a:ext cx="1554480" cy="685800"/>
          </a:xfrm>
          <a:prstGeom prst="rect">
            <a:avLst/>
          </a:prstGeom>
          <a:noFill/>
          <a:ln/>
        </p:spPr>
        <p:txBody>
          <a:bodyPr wrap="square" lIns="508" tIns="508" rIns="508" bIns="508" rtlCol="0" anchor="ctr"/>
          <a:lstStyle/>
          <a:p>
            <a:pPr marL="0" indent="0" algn="ctr">
              <a:buNone/>
            </a:pPr>
            <a:r>
              <a:rPr lang="en-US" sz="1400" b="1" dirty="0">
                <a:solidFill>
                  <a:schemeClr val="tx1"/>
                </a:solidFill>
              </a:rPr>
              <a:t>Random forest</a:t>
            </a:r>
            <a:endParaRPr lang="en-US" sz="1400" dirty="0"/>
          </a:p>
        </p:txBody>
      </p:sp>
      <p:sp>
        <p:nvSpPr>
          <p:cNvPr id="12" name="Shape 9"/>
          <p:cNvSpPr/>
          <p:nvPr/>
        </p:nvSpPr>
        <p:spPr>
          <a:xfrm>
            <a:off x="4937760" y="3611880"/>
            <a:ext cx="1554480" cy="685800"/>
          </a:xfrm>
          <a:prstGeom prst="roundRect">
            <a:avLst>
              <a:gd name="adj" fmla="val 8000"/>
            </a:avLst>
          </a:prstGeom>
          <a:solidFill>
            <a:srgbClr val="EEF1F8"/>
          </a:solidFill>
          <a:ln w="15875">
            <a:solidFill>
              <a:srgbClr val="6F8FD0"/>
            </a:solidFill>
            <a:prstDash val="solid"/>
          </a:ln>
        </p:spPr>
        <p:txBody>
          <a:bodyPr/>
          <a:lstStyle/>
          <a:p>
            <a:endParaRPr lang="en-IN"/>
          </a:p>
        </p:txBody>
      </p:sp>
      <p:sp>
        <p:nvSpPr>
          <p:cNvPr id="13" name="Text 10"/>
          <p:cNvSpPr txBox="1"/>
          <p:nvPr/>
        </p:nvSpPr>
        <p:spPr>
          <a:xfrm>
            <a:off x="4937760" y="3611880"/>
            <a:ext cx="1554480" cy="685800"/>
          </a:xfrm>
          <a:prstGeom prst="rect">
            <a:avLst/>
          </a:prstGeom>
          <a:noFill/>
          <a:ln/>
        </p:spPr>
        <p:txBody>
          <a:bodyPr wrap="square" lIns="508" tIns="508" rIns="508" bIns="508" rtlCol="0" anchor="ctr"/>
          <a:lstStyle/>
          <a:p>
            <a:pPr marL="0" indent="0" algn="ctr">
              <a:buNone/>
            </a:pPr>
            <a:r>
              <a:rPr lang="en-US" sz="1400" b="1" dirty="0">
                <a:solidFill>
                  <a:schemeClr val="tx1"/>
                </a:solidFill>
              </a:rPr>
              <a:t>Ask for the label</a:t>
            </a:r>
            <a:endParaRPr lang="en-US" sz="1400" dirty="0"/>
          </a:p>
          <a:p>
            <a:pPr marL="0" indent="0" algn="ctr">
              <a:buNone/>
            </a:pPr>
            <a:r>
              <a:rPr lang="en-US" sz="1100" dirty="0">
                <a:solidFill>
                  <a:srgbClr val="55606E"/>
                </a:solidFill>
              </a:rPr>
              <a:t>through Kafka</a:t>
            </a:r>
            <a:endParaRPr lang="en-US" sz="1400" dirty="0"/>
          </a:p>
        </p:txBody>
      </p:sp>
      <p:sp>
        <p:nvSpPr>
          <p:cNvPr id="14" name="Shape 11"/>
          <p:cNvSpPr/>
          <p:nvPr/>
        </p:nvSpPr>
        <p:spPr>
          <a:xfrm>
            <a:off x="2560320" y="3611880"/>
            <a:ext cx="1920240" cy="685800"/>
          </a:xfrm>
          <a:prstGeom prst="roundRect">
            <a:avLst>
              <a:gd name="adj" fmla="val 8000"/>
            </a:avLst>
          </a:prstGeom>
          <a:solidFill>
            <a:srgbClr val="EEF1F5"/>
          </a:solidFill>
          <a:ln w="15875">
            <a:solidFill>
              <a:srgbClr val="B8C2CF"/>
            </a:solidFill>
            <a:prstDash val="solid"/>
          </a:ln>
        </p:spPr>
        <p:txBody>
          <a:bodyPr/>
          <a:lstStyle/>
          <a:p>
            <a:endParaRPr lang="en-IN"/>
          </a:p>
        </p:txBody>
      </p:sp>
      <p:sp>
        <p:nvSpPr>
          <p:cNvPr id="15" name="Text 12"/>
          <p:cNvSpPr txBox="1"/>
          <p:nvPr/>
        </p:nvSpPr>
        <p:spPr>
          <a:xfrm>
            <a:off x="2560320" y="3611880"/>
            <a:ext cx="1920240" cy="685800"/>
          </a:xfrm>
          <a:prstGeom prst="rect">
            <a:avLst/>
          </a:prstGeom>
          <a:noFill/>
          <a:ln/>
        </p:spPr>
        <p:txBody>
          <a:bodyPr wrap="square" lIns="508" tIns="508" rIns="508" bIns="508" rtlCol="0" anchor="ctr"/>
          <a:lstStyle/>
          <a:p>
            <a:pPr marL="0" indent="0" algn="ctr">
              <a:buNone/>
            </a:pPr>
            <a:r>
              <a:rPr lang="en-US" sz="1400" b="1" dirty="0">
                <a:solidFill>
                  <a:schemeClr val="tx1"/>
                </a:solidFill>
              </a:rPr>
              <a:t>Add to memory</a:t>
            </a:r>
            <a:endParaRPr lang="en-US" sz="1400" dirty="0"/>
          </a:p>
          <a:p>
            <a:pPr marL="0" indent="0" algn="ctr">
              <a:buNone/>
            </a:pPr>
            <a:endParaRPr lang="en-US" sz="1400" dirty="0"/>
          </a:p>
        </p:txBody>
      </p:sp>
      <p:sp>
        <p:nvSpPr>
          <p:cNvPr id="16" name="Shape 13"/>
          <p:cNvSpPr/>
          <p:nvPr/>
        </p:nvSpPr>
        <p:spPr>
          <a:xfrm>
            <a:off x="2148840" y="2240280"/>
            <a:ext cx="393192" cy="0"/>
          </a:xfrm>
          <a:prstGeom prst="line">
            <a:avLst/>
          </a:prstGeom>
          <a:noFill/>
          <a:ln w="19050">
            <a:solidFill>
              <a:srgbClr val="55606E"/>
            </a:solidFill>
            <a:prstDash val="solid"/>
            <a:tailEnd type="triangle"/>
          </a:ln>
        </p:spPr>
        <p:txBody>
          <a:bodyPr/>
          <a:lstStyle/>
          <a:p>
            <a:endParaRPr lang="en-IN"/>
          </a:p>
        </p:txBody>
      </p:sp>
      <p:sp>
        <p:nvSpPr>
          <p:cNvPr id="17" name="Shape 14"/>
          <p:cNvSpPr/>
          <p:nvPr/>
        </p:nvSpPr>
        <p:spPr>
          <a:xfrm flipV="1">
            <a:off x="4480560" y="1719072"/>
            <a:ext cx="438912" cy="338328"/>
          </a:xfrm>
          <a:prstGeom prst="line">
            <a:avLst/>
          </a:prstGeom>
          <a:noFill/>
          <a:ln w="19050">
            <a:solidFill>
              <a:srgbClr val="55606E"/>
            </a:solidFill>
            <a:prstDash val="solid"/>
            <a:tailEnd type="triangle"/>
          </a:ln>
        </p:spPr>
        <p:txBody>
          <a:bodyPr/>
          <a:lstStyle/>
          <a:p>
            <a:endParaRPr lang="en-IN"/>
          </a:p>
        </p:txBody>
      </p:sp>
      <p:sp>
        <p:nvSpPr>
          <p:cNvPr id="18" name="Shape 15"/>
          <p:cNvSpPr/>
          <p:nvPr/>
        </p:nvSpPr>
        <p:spPr>
          <a:xfrm>
            <a:off x="4480560" y="2423160"/>
            <a:ext cx="438912" cy="365760"/>
          </a:xfrm>
          <a:prstGeom prst="line">
            <a:avLst/>
          </a:prstGeom>
          <a:noFill/>
          <a:ln w="19050">
            <a:solidFill>
              <a:srgbClr val="55606E"/>
            </a:solidFill>
            <a:prstDash val="solid"/>
            <a:tailEnd type="triangle"/>
          </a:ln>
        </p:spPr>
        <p:txBody>
          <a:bodyPr/>
          <a:lstStyle/>
          <a:p>
            <a:endParaRPr lang="en-IN"/>
          </a:p>
        </p:txBody>
      </p:sp>
      <p:sp>
        <p:nvSpPr>
          <p:cNvPr id="19" name="Shape 16"/>
          <p:cNvSpPr/>
          <p:nvPr/>
        </p:nvSpPr>
        <p:spPr>
          <a:xfrm>
            <a:off x="5715000" y="3154680"/>
            <a:ext cx="0" cy="438912"/>
          </a:xfrm>
          <a:prstGeom prst="line">
            <a:avLst/>
          </a:prstGeom>
          <a:noFill/>
          <a:ln w="19050">
            <a:solidFill>
              <a:srgbClr val="55606E"/>
            </a:solidFill>
            <a:prstDash val="solid"/>
            <a:tailEnd type="triangle"/>
          </a:ln>
        </p:spPr>
        <p:txBody>
          <a:bodyPr/>
          <a:lstStyle/>
          <a:p>
            <a:endParaRPr lang="en-IN"/>
          </a:p>
        </p:txBody>
      </p:sp>
      <p:sp>
        <p:nvSpPr>
          <p:cNvPr id="20" name="Shape 17"/>
          <p:cNvSpPr/>
          <p:nvPr/>
        </p:nvSpPr>
        <p:spPr>
          <a:xfrm flipH="1">
            <a:off x="4498848" y="3950208"/>
            <a:ext cx="438912" cy="0"/>
          </a:xfrm>
          <a:prstGeom prst="line">
            <a:avLst/>
          </a:prstGeom>
          <a:noFill/>
          <a:ln w="19050">
            <a:solidFill>
              <a:srgbClr val="55606E"/>
            </a:solidFill>
            <a:prstDash val="solid"/>
            <a:tailEnd type="triangle"/>
          </a:ln>
        </p:spPr>
        <p:txBody>
          <a:bodyPr/>
          <a:lstStyle/>
          <a:p>
            <a:endParaRPr lang="en-IN"/>
          </a:p>
        </p:txBody>
      </p:sp>
      <p:sp>
        <p:nvSpPr>
          <p:cNvPr id="21" name="Shape 18"/>
          <p:cNvSpPr/>
          <p:nvPr/>
        </p:nvSpPr>
        <p:spPr>
          <a:xfrm flipV="1">
            <a:off x="3520440" y="2624328"/>
            <a:ext cx="0" cy="987552"/>
          </a:xfrm>
          <a:prstGeom prst="line">
            <a:avLst/>
          </a:prstGeom>
          <a:noFill/>
          <a:ln w="19050">
            <a:solidFill>
              <a:srgbClr val="55606E"/>
            </a:solidFill>
            <a:prstDash val="solid"/>
            <a:tailEnd type="triangle"/>
          </a:ln>
        </p:spPr>
        <p:txBody>
          <a:bodyPr/>
          <a:lstStyle/>
          <a:p>
            <a:endParaRPr lang="en-IN"/>
          </a:p>
        </p:txBody>
      </p:sp>
      <p:sp>
        <p:nvSpPr>
          <p:cNvPr id="22" name="Text 19"/>
          <p:cNvSpPr txBox="1"/>
          <p:nvPr/>
        </p:nvSpPr>
        <p:spPr>
          <a:xfrm>
            <a:off x="4434840" y="1554480"/>
            <a:ext cx="548640" cy="274320"/>
          </a:xfrm>
          <a:prstGeom prst="rect">
            <a:avLst/>
          </a:prstGeom>
          <a:noFill/>
          <a:ln/>
        </p:spPr>
        <p:txBody>
          <a:bodyPr wrap="square" lIns="0" tIns="0" rIns="0" bIns="0" rtlCol="0" anchor="t"/>
          <a:lstStyle/>
          <a:p>
            <a:pPr marL="0" indent="0" algn="ctr">
              <a:buNone/>
            </a:pPr>
            <a:r>
              <a:rPr lang="en-US" sz="1200" dirty="0">
                <a:solidFill>
                  <a:srgbClr val="55606E"/>
                </a:solidFill>
              </a:rPr>
              <a:t>yes</a:t>
            </a:r>
            <a:endParaRPr lang="en-US" sz="1200" dirty="0"/>
          </a:p>
        </p:txBody>
      </p:sp>
      <p:sp>
        <p:nvSpPr>
          <p:cNvPr id="23" name="Text 20"/>
          <p:cNvSpPr txBox="1"/>
          <p:nvPr/>
        </p:nvSpPr>
        <p:spPr>
          <a:xfrm>
            <a:off x="4434840" y="2743200"/>
            <a:ext cx="548640" cy="274320"/>
          </a:xfrm>
          <a:prstGeom prst="rect">
            <a:avLst/>
          </a:prstGeom>
          <a:noFill/>
          <a:ln/>
        </p:spPr>
        <p:txBody>
          <a:bodyPr wrap="square" lIns="0" tIns="0" rIns="0" bIns="0" rtlCol="0" anchor="t"/>
          <a:lstStyle/>
          <a:p>
            <a:pPr marL="0" indent="0" algn="ctr">
              <a:buNone/>
            </a:pPr>
            <a:r>
              <a:rPr lang="en-US" sz="1200" dirty="0">
                <a:solidFill>
                  <a:srgbClr val="55606E"/>
                </a:solidFill>
              </a:rPr>
              <a:t>no</a:t>
            </a:r>
            <a:endParaRPr lang="en-US" sz="1200" dirty="0"/>
          </a:p>
        </p:txBody>
      </p:sp>
      <p:sp>
        <p:nvSpPr>
          <p:cNvPr id="25" name="Text 22"/>
          <p:cNvSpPr txBox="1"/>
          <p:nvPr/>
        </p:nvSpPr>
        <p:spPr>
          <a:xfrm>
            <a:off x="7223760" y="1417320"/>
            <a:ext cx="438912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22.5% → 2.1%</a:t>
            </a:r>
            <a:endParaRPr lang="en-US" sz="4000" dirty="0"/>
          </a:p>
        </p:txBody>
      </p:sp>
      <p:sp>
        <p:nvSpPr>
          <p:cNvPr id="26" name="Text 23"/>
          <p:cNvSpPr txBox="1"/>
          <p:nvPr/>
        </p:nvSpPr>
        <p:spPr>
          <a:xfrm>
            <a:off x="7223760" y="2194560"/>
            <a:ext cx="4389120" cy="685800"/>
          </a:xfrm>
          <a:prstGeom prst="rect">
            <a:avLst/>
          </a:prstGeom>
          <a:noFill/>
          <a:ln/>
        </p:spPr>
        <p:txBody>
          <a:bodyPr wrap="square" lIns="0" tIns="0" rIns="0" bIns="0" rtlCol="0" anchor="t"/>
          <a:lstStyle/>
          <a:p>
            <a:pPr marL="0" indent="0">
              <a:buNone/>
            </a:pPr>
            <a:r>
              <a:rPr lang="en-US" sz="1300" dirty="0">
                <a:solidFill>
                  <a:schemeClr val="tx1"/>
                </a:solidFill>
              </a:rPr>
              <a:t>of the traffic still needs the random forest</a:t>
            </a:r>
            <a:endParaRPr lang="en-US" sz="1300" dirty="0"/>
          </a:p>
        </p:txBody>
      </p:sp>
      <p:sp>
        <p:nvSpPr>
          <p:cNvPr id="27" name="Text 24"/>
          <p:cNvSpPr txBox="1"/>
          <p:nvPr/>
        </p:nvSpPr>
        <p:spPr>
          <a:xfrm>
            <a:off x="7223760" y="2926080"/>
            <a:ext cx="438912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0.967 → 0.981</a:t>
            </a:r>
            <a:endParaRPr lang="en-US" sz="4000" dirty="0"/>
          </a:p>
        </p:txBody>
      </p:sp>
      <p:sp>
        <p:nvSpPr>
          <p:cNvPr id="28" name="Text 25"/>
          <p:cNvSpPr txBox="1"/>
          <p:nvPr/>
        </p:nvSpPr>
        <p:spPr>
          <a:xfrm>
            <a:off x="7223760" y="3686439"/>
            <a:ext cx="4389120" cy="685800"/>
          </a:xfrm>
          <a:prstGeom prst="rect">
            <a:avLst/>
          </a:prstGeom>
          <a:noFill/>
          <a:ln/>
        </p:spPr>
        <p:txBody>
          <a:bodyPr wrap="square" lIns="0" tIns="0" rIns="0" bIns="0" rtlCol="0" anchor="t"/>
          <a:lstStyle/>
          <a:p>
            <a:pPr marL="0" indent="0">
              <a:buNone/>
            </a:pPr>
            <a:r>
              <a:rPr lang="en-US" sz="1300" dirty="0">
                <a:solidFill>
                  <a:schemeClr val="tx1"/>
                </a:solidFill>
              </a:rPr>
              <a:t>the system now beats the random forest itself</a:t>
            </a:r>
            <a:endParaRPr lang="en-US" sz="1300" dirty="0"/>
          </a:p>
        </p:txBody>
      </p:sp>
      <p:sp>
        <p:nvSpPr>
          <p:cNvPr id="29" name="Text 26"/>
          <p:cNvSpPr txBox="1"/>
          <p:nvPr/>
        </p:nvSpPr>
        <p:spPr>
          <a:xfrm>
            <a:off x="7223760" y="4434840"/>
            <a:ext cx="4389120" cy="777240"/>
          </a:xfrm>
          <a:prstGeom prst="rect">
            <a:avLst/>
          </a:prstGeom>
          <a:noFill/>
          <a:ln/>
        </p:spPr>
        <p:txBody>
          <a:bodyPr wrap="square" lIns="0" tIns="0" rIns="0" bIns="0" rtlCol="0" anchor="t"/>
          <a:lstStyle/>
          <a:p>
            <a:pPr marL="0" indent="0">
              <a:buNone/>
            </a:pPr>
            <a:r>
              <a:rPr lang="en-US" sz="4000" b="1" dirty="0">
                <a:solidFill>
                  <a:schemeClr val="accent1"/>
                </a:solidFill>
                <a:latin typeface="Cambria" pitchFamily="34" charset="0"/>
                <a:ea typeface="Cambria" pitchFamily="34" charset="-122"/>
                <a:cs typeface="Cambria" pitchFamily="34" charset="-120"/>
              </a:rPr>
              <a:t>1,000 labels</a:t>
            </a:r>
            <a:endParaRPr lang="en-US" sz="4000" dirty="0"/>
          </a:p>
        </p:txBody>
      </p:sp>
      <p:sp>
        <p:nvSpPr>
          <p:cNvPr id="30" name="Text 27"/>
          <p:cNvSpPr txBox="1"/>
          <p:nvPr/>
        </p:nvSpPr>
        <p:spPr>
          <a:xfrm>
            <a:off x="7223760" y="5212080"/>
            <a:ext cx="4389120" cy="685800"/>
          </a:xfrm>
          <a:prstGeom prst="rect">
            <a:avLst/>
          </a:prstGeom>
          <a:noFill/>
          <a:ln/>
        </p:spPr>
        <p:txBody>
          <a:bodyPr wrap="square" lIns="0" tIns="0" rIns="0" bIns="0" rtlCol="0" anchor="t"/>
          <a:lstStyle/>
          <a:p>
            <a:pPr marL="0" indent="0">
              <a:buNone/>
            </a:pPr>
            <a:r>
              <a:rPr lang="en-US" sz="1300" dirty="0">
                <a:solidFill>
                  <a:schemeClr val="tx1"/>
                </a:solidFill>
              </a:rPr>
              <a:t>for all of day 2, which is 0.005% of the connections</a:t>
            </a:r>
            <a:endParaRPr lang="en-US" sz="13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b="1">
                <a:solidFill>
                  <a:schemeClr val="tx1"/>
                </a:solidFill>
              </a:rPr>
              <a:t>Results: higher scores for every model, and faster</a:t>
            </a:r>
            <a:endParaRPr lang="en-US" sz="3000" dirty="0"/>
          </a:p>
        </p:txBody>
      </p:sp>
      <p:graphicFrame>
        <p:nvGraphicFramePr>
          <p:cNvPr id="4" name="Chart 0"/>
          <p:cNvGraphicFramePr/>
          <p:nvPr>
            <p:extLst>
              <p:ext uri="{D42A27DB-BD31-4B8C-83A1-F6EECF244321}">
                <p14:modId xmlns:p14="http://schemas.microsoft.com/office/powerpoint/2010/main" val="2986512078"/>
              </p:ext>
            </p:extLst>
          </p:nvPr>
        </p:nvGraphicFramePr>
        <p:xfrm>
          <a:off x="533400" y="1325880"/>
          <a:ext cx="758952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1"/>
          <p:cNvSpPr/>
          <p:nvPr/>
        </p:nvSpPr>
        <p:spPr>
          <a:xfrm>
            <a:off x="8458200" y="1417320"/>
            <a:ext cx="3200400" cy="4526280"/>
          </a:xfrm>
          <a:prstGeom prst="roundRect">
            <a:avLst>
              <a:gd name="adj" fmla="val 2286"/>
            </a:avLst>
          </a:prstGeom>
          <a:solidFill>
            <a:schemeClr val="bg2"/>
          </a:solidFill>
          <a:ln w="12700">
            <a:solidFill>
              <a:schemeClr val="bg2"/>
            </a:solidFill>
            <a:prstDash val="solid"/>
          </a:ln>
        </p:spPr>
        <p:txBody>
          <a:bodyPr/>
          <a:lstStyle/>
          <a:p>
            <a:endParaRPr lang="en-IN"/>
          </a:p>
        </p:txBody>
      </p:sp>
      <p:sp>
        <p:nvSpPr>
          <p:cNvPr id="6" name="Text 2"/>
          <p:cNvSpPr txBox="1"/>
          <p:nvPr/>
        </p:nvSpPr>
        <p:spPr>
          <a:xfrm>
            <a:off x="8686800" y="1600200"/>
            <a:ext cx="2743200" cy="365760"/>
          </a:xfrm>
          <a:prstGeom prst="rect">
            <a:avLst/>
          </a:prstGeom>
          <a:noFill/>
          <a:ln/>
        </p:spPr>
        <p:txBody>
          <a:bodyPr wrap="square" lIns="0" tIns="0" rIns="0" bIns="0" rtlCol="0" anchor="t"/>
          <a:lstStyle/>
          <a:p>
            <a:pPr marL="0" indent="0">
              <a:buNone/>
            </a:pPr>
            <a:r>
              <a:rPr lang="en-US" sz="1500" b="1" dirty="0">
                <a:solidFill>
                  <a:schemeClr val="tx1"/>
                </a:solidFill>
              </a:rPr>
              <a:t>Time to score the stream</a:t>
            </a:r>
            <a:endParaRPr lang="en-US" sz="1500" dirty="0"/>
          </a:p>
        </p:txBody>
      </p:sp>
      <p:sp>
        <p:nvSpPr>
          <p:cNvPr id="7" name="Text 3"/>
          <p:cNvSpPr txBox="1"/>
          <p:nvPr/>
        </p:nvSpPr>
        <p:spPr>
          <a:xfrm>
            <a:off x="8686800" y="2057400"/>
            <a:ext cx="2743200" cy="502920"/>
          </a:xfrm>
          <a:prstGeom prst="rect">
            <a:avLst/>
          </a:prstGeom>
          <a:noFill/>
          <a:ln/>
        </p:spPr>
        <p:txBody>
          <a:bodyPr wrap="square" lIns="0" tIns="0" rIns="0" bIns="0" rtlCol="0" anchor="t"/>
          <a:lstStyle/>
          <a:p>
            <a:pPr marL="0" indent="0">
              <a:buNone/>
            </a:pPr>
            <a:r>
              <a:rPr lang="en-US" sz="2800" b="1" dirty="0">
                <a:solidFill>
                  <a:schemeClr val="tx1"/>
                </a:solidFill>
                <a:latin typeface="Cambria" pitchFamily="34" charset="0"/>
                <a:ea typeface="Cambria" pitchFamily="34" charset="-122"/>
                <a:cs typeface="Cambria" pitchFamily="34" charset="-120"/>
              </a:rPr>
              <a:t>36.5 s</a:t>
            </a:r>
            <a:endParaRPr lang="en-US" sz="2800" dirty="0"/>
          </a:p>
        </p:txBody>
      </p:sp>
      <p:sp>
        <p:nvSpPr>
          <p:cNvPr id="8" name="Text 4"/>
          <p:cNvSpPr txBox="1"/>
          <p:nvPr/>
        </p:nvSpPr>
        <p:spPr>
          <a:xfrm>
            <a:off x="8686800" y="2560320"/>
            <a:ext cx="2743200" cy="320040"/>
          </a:xfrm>
          <a:prstGeom prst="rect">
            <a:avLst/>
          </a:prstGeom>
          <a:noFill/>
          <a:ln/>
        </p:spPr>
        <p:txBody>
          <a:bodyPr wrap="square" lIns="0" tIns="0" rIns="0" bIns="0" rtlCol="0" anchor="t"/>
          <a:lstStyle/>
          <a:p>
            <a:pPr marL="0" indent="0">
              <a:buNone/>
            </a:pPr>
            <a:r>
              <a:rPr lang="en-US" sz="1200" dirty="0">
                <a:solidFill>
                  <a:srgbClr val="55606E"/>
                </a:solidFill>
              </a:rPr>
              <a:t>Forest on everything</a:t>
            </a:r>
            <a:endParaRPr lang="en-US" sz="1200" dirty="0"/>
          </a:p>
        </p:txBody>
      </p:sp>
      <p:sp>
        <p:nvSpPr>
          <p:cNvPr id="9" name="Text 5"/>
          <p:cNvSpPr txBox="1"/>
          <p:nvPr/>
        </p:nvSpPr>
        <p:spPr>
          <a:xfrm>
            <a:off x="8686800" y="2926080"/>
            <a:ext cx="2743200" cy="502920"/>
          </a:xfrm>
          <a:prstGeom prst="rect">
            <a:avLst/>
          </a:prstGeom>
          <a:noFill/>
          <a:ln/>
        </p:spPr>
        <p:txBody>
          <a:bodyPr wrap="square" lIns="0" tIns="0" rIns="0" bIns="0" rtlCol="0" anchor="t"/>
          <a:lstStyle/>
          <a:p>
            <a:pPr marL="0" indent="0">
              <a:buNone/>
            </a:pPr>
            <a:r>
              <a:rPr lang="en-US" sz="2800" b="1" dirty="0">
                <a:solidFill>
                  <a:schemeClr val="accent3"/>
                </a:solidFill>
                <a:latin typeface="Cambria" pitchFamily="34" charset="0"/>
                <a:ea typeface="Cambria" pitchFamily="34" charset="-122"/>
              </a:rPr>
              <a:t>1.41 times faster</a:t>
            </a:r>
            <a:endParaRPr lang="en-US" sz="2800" dirty="0"/>
          </a:p>
        </p:txBody>
      </p:sp>
      <p:sp>
        <p:nvSpPr>
          <p:cNvPr id="10" name="Text 6"/>
          <p:cNvSpPr txBox="1"/>
          <p:nvPr/>
        </p:nvSpPr>
        <p:spPr>
          <a:xfrm>
            <a:off x="8686800" y="3429000"/>
            <a:ext cx="2743200" cy="320040"/>
          </a:xfrm>
          <a:prstGeom prst="rect">
            <a:avLst/>
          </a:prstGeom>
          <a:noFill/>
          <a:ln/>
        </p:spPr>
        <p:txBody>
          <a:bodyPr wrap="square" lIns="0" tIns="0" rIns="0" bIns="0" rtlCol="0" anchor="t"/>
          <a:lstStyle/>
          <a:p>
            <a:pPr marL="0" indent="0">
              <a:buNone/>
            </a:pPr>
            <a:r>
              <a:rPr lang="en-US" sz="1200" dirty="0">
                <a:solidFill>
                  <a:srgbClr val="55606E"/>
                </a:solidFill>
              </a:rPr>
              <a:t>Router</a:t>
            </a:r>
            <a:endParaRPr lang="en-US" sz="1200" dirty="0"/>
          </a:p>
        </p:txBody>
      </p:sp>
      <p:sp>
        <p:nvSpPr>
          <p:cNvPr id="11" name="Text 7"/>
          <p:cNvSpPr txBox="1"/>
          <p:nvPr/>
        </p:nvSpPr>
        <p:spPr>
          <a:xfrm>
            <a:off x="8686800" y="3794760"/>
            <a:ext cx="2743200" cy="502920"/>
          </a:xfrm>
          <a:prstGeom prst="rect">
            <a:avLst/>
          </a:prstGeom>
          <a:noFill/>
          <a:ln/>
        </p:spPr>
        <p:txBody>
          <a:bodyPr wrap="square" lIns="0" tIns="0" rIns="0" bIns="0" rtlCol="0" anchor="t"/>
          <a:lstStyle/>
          <a:p>
            <a:pPr marL="0" indent="0">
              <a:buNone/>
            </a:pPr>
            <a:r>
              <a:rPr lang="en-US" sz="2800" b="1" dirty="0">
                <a:solidFill>
                  <a:schemeClr val="accent1"/>
                </a:solidFill>
                <a:latin typeface="Cambria" pitchFamily="34" charset="0"/>
                <a:ea typeface="Cambria" pitchFamily="34" charset="-122"/>
              </a:rPr>
              <a:t>2.5 times faster</a:t>
            </a:r>
            <a:endParaRPr lang="en-US" sz="2800" dirty="0"/>
          </a:p>
        </p:txBody>
      </p:sp>
      <p:sp>
        <p:nvSpPr>
          <p:cNvPr id="12" name="Text 8"/>
          <p:cNvSpPr txBox="1"/>
          <p:nvPr/>
        </p:nvSpPr>
        <p:spPr>
          <a:xfrm>
            <a:off x="8686800" y="4297680"/>
            <a:ext cx="2743200" cy="320040"/>
          </a:xfrm>
          <a:prstGeom prst="rect">
            <a:avLst/>
          </a:prstGeom>
          <a:noFill/>
          <a:ln/>
        </p:spPr>
        <p:txBody>
          <a:bodyPr wrap="square" lIns="0" tIns="0" rIns="0" bIns="0" rtlCol="0" anchor="t"/>
          <a:lstStyle/>
          <a:p>
            <a:pPr marL="0" indent="0">
              <a:buNone/>
            </a:pPr>
            <a:r>
              <a:rPr lang="en-US" sz="1200" dirty="0">
                <a:solidFill>
                  <a:srgbClr val="55606E"/>
                </a:solidFill>
              </a:rPr>
              <a:t>Router + label copying</a:t>
            </a:r>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Results: live Grafana dashboard</a:t>
            </a:r>
            <a:endParaRPr lang="en-US" sz="3000" dirty="0"/>
          </a:p>
        </p:txBody>
      </p:sp>
      <p:pic>
        <p:nvPicPr>
          <p:cNvPr id="4" name="Image 0" descr="C:/Users/scien/Downloads/ddos-study-guide/img/07-router-live.png"/>
          <p:cNvPicPr>
            <a:picLocks noChangeAspect="1"/>
          </p:cNvPicPr>
          <p:nvPr/>
        </p:nvPicPr>
        <p:blipFill>
          <a:blip r:embed="rId3"/>
          <a:stretch>
            <a:fillRect/>
          </a:stretch>
        </p:blipFill>
        <p:spPr>
          <a:xfrm>
            <a:off x="548640" y="1325880"/>
            <a:ext cx="7635240" cy="4709160"/>
          </a:xfrm>
          <a:prstGeom prst="rect">
            <a:avLst/>
          </a:prstGeom>
        </p:spPr>
      </p:pic>
      <p:sp>
        <p:nvSpPr>
          <p:cNvPr id="5" name="Text 1"/>
          <p:cNvSpPr txBox="1"/>
          <p:nvPr/>
        </p:nvSpPr>
        <p:spPr>
          <a:xfrm>
            <a:off x="8503920" y="1417320"/>
            <a:ext cx="3154680" cy="548640"/>
          </a:xfrm>
          <a:prstGeom prst="rect">
            <a:avLst/>
          </a:prstGeom>
          <a:noFill/>
          <a:ln/>
        </p:spPr>
        <p:txBody>
          <a:bodyPr wrap="square" lIns="0" tIns="0" rIns="0" bIns="0" rtlCol="0" anchor="t"/>
          <a:lstStyle/>
          <a:p>
            <a:pPr marL="0" indent="0">
              <a:buNone/>
            </a:pPr>
            <a:r>
              <a:rPr lang="en-US" sz="2800" b="1" dirty="0">
                <a:solidFill>
                  <a:schemeClr val="accent4"/>
                </a:solidFill>
                <a:latin typeface="Cambria" pitchFamily="34" charset="0"/>
                <a:ea typeface="Cambria" pitchFamily="34" charset="-122"/>
                <a:cs typeface="Cambria" pitchFamily="34" charset="-120"/>
              </a:rPr>
              <a:t>12,000</a:t>
            </a:r>
            <a:endParaRPr lang="en-US" sz="2800" dirty="0"/>
          </a:p>
        </p:txBody>
      </p:sp>
      <p:sp>
        <p:nvSpPr>
          <p:cNvPr id="6" name="Text 2"/>
          <p:cNvSpPr txBox="1"/>
          <p:nvPr/>
        </p:nvSpPr>
        <p:spPr>
          <a:xfrm>
            <a:off x="8503920" y="1947672"/>
            <a:ext cx="3154680" cy="457200"/>
          </a:xfrm>
          <a:prstGeom prst="rect">
            <a:avLst/>
          </a:prstGeom>
          <a:noFill/>
          <a:ln/>
        </p:spPr>
        <p:txBody>
          <a:bodyPr wrap="square" lIns="0" tIns="0" rIns="0" bIns="0" rtlCol="0" anchor="t"/>
          <a:lstStyle/>
          <a:p>
            <a:pPr marL="0" indent="0">
              <a:buNone/>
            </a:pPr>
            <a:r>
              <a:rPr lang="en-US" sz="1300" dirty="0">
                <a:solidFill>
                  <a:schemeClr val="tx1"/>
                </a:solidFill>
              </a:rPr>
              <a:t>connections per tick from Kafka</a:t>
            </a:r>
            <a:endParaRPr lang="en-US" sz="13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Results: user-side website and assistant</a:t>
            </a:r>
            <a:endParaRPr lang="en-US" sz="3000" dirty="0"/>
          </a:p>
        </p:txBody>
      </p:sp>
      <p:pic>
        <p:nvPicPr>
          <p:cNvPr id="4" name="Image 0" descr="C:/Users/scien/Downloads/ddos-study-guide/img/01-site-overview.png"/>
          <p:cNvPicPr>
            <a:picLocks noChangeAspect="1"/>
          </p:cNvPicPr>
          <p:nvPr/>
        </p:nvPicPr>
        <p:blipFill>
          <a:blip r:embed="rId3"/>
          <a:stretch>
            <a:fillRect/>
          </a:stretch>
        </p:blipFill>
        <p:spPr>
          <a:xfrm>
            <a:off x="548640" y="1371600"/>
            <a:ext cx="7040880" cy="3730752"/>
          </a:xfrm>
          <a:prstGeom prst="rect">
            <a:avLst/>
          </a:prstGeom>
        </p:spPr>
      </p:pic>
      <p:sp>
        <p:nvSpPr>
          <p:cNvPr id="5" name="Text 1"/>
          <p:cNvSpPr txBox="1"/>
          <p:nvPr/>
        </p:nvSpPr>
        <p:spPr>
          <a:xfrm>
            <a:off x="548640" y="5212080"/>
            <a:ext cx="7040880" cy="365760"/>
          </a:xfrm>
          <a:prstGeom prst="rect">
            <a:avLst/>
          </a:prstGeom>
          <a:noFill/>
          <a:ln/>
        </p:spPr>
        <p:txBody>
          <a:bodyPr wrap="square" lIns="0" tIns="0" rIns="0" bIns="0" rtlCol="0" anchor="t"/>
          <a:lstStyle/>
          <a:p>
            <a:pPr marL="0" indent="0">
              <a:buNone/>
            </a:pPr>
            <a:r>
              <a:rPr lang="en-US" sz="1200" dirty="0">
                <a:solidFill>
                  <a:srgbClr val="55606E"/>
                </a:solidFill>
              </a:rPr>
              <a:t>My Network: the replay, how traffic was answered, and the attacks seen.</a:t>
            </a:r>
            <a:endParaRPr lang="en-US" sz="1200" dirty="0"/>
          </a:p>
        </p:txBody>
      </p:sp>
      <p:pic>
        <p:nvPicPr>
          <p:cNvPr id="6" name="Image 1" descr="C:/Users/scien/Downloads/ddos-study-guide/img/04-site-assistant.png"/>
          <p:cNvPicPr>
            <a:picLocks noChangeAspect="1"/>
          </p:cNvPicPr>
          <p:nvPr/>
        </p:nvPicPr>
        <p:blipFill>
          <a:blip r:embed="rId4"/>
          <a:stretch>
            <a:fillRect/>
          </a:stretch>
        </p:blipFill>
        <p:spPr>
          <a:xfrm>
            <a:off x="7909560" y="1371600"/>
            <a:ext cx="3730752" cy="2468880"/>
          </a:xfrm>
          <a:prstGeom prst="rect">
            <a:avLst/>
          </a:prstGeom>
        </p:spPr>
      </p:pic>
      <p:sp>
        <p:nvSpPr>
          <p:cNvPr id="7" name="Text 2"/>
          <p:cNvSpPr txBox="1"/>
          <p:nvPr/>
        </p:nvSpPr>
        <p:spPr>
          <a:xfrm>
            <a:off x="7909560" y="4069080"/>
            <a:ext cx="3730752"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Gemma runs on the laptop through Ollama</a:t>
            </a:r>
            <a:endParaRPr lang="en-US" sz="1400" dirty="0"/>
          </a:p>
          <a:p>
            <a:pPr marL="342900" indent="-342900">
              <a:spcAft>
                <a:spcPts val="600"/>
              </a:spcAft>
              <a:buSzPct val="100000"/>
              <a:buChar char="•"/>
            </a:pPr>
            <a:r>
              <a:rPr lang="en-US" sz="1400" dirty="0">
                <a:solidFill>
                  <a:schemeClr val="tx1"/>
                </a:solidFill>
              </a:rPr>
              <a:t>It answers from the page's facts: when, how much, current status</a:t>
            </a:r>
            <a:endParaRPr lang="en-US" sz="1400" dirty="0"/>
          </a:p>
        </p:txBody>
      </p:sp>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Challenges, limitations, conclusion and future work</a:t>
            </a:r>
            <a:endParaRPr lang="en-US" sz="3000" dirty="0"/>
          </a:p>
        </p:txBody>
      </p:sp>
      <p:sp>
        <p:nvSpPr>
          <p:cNvPr id="3"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
        <p:nvSpPr>
          <p:cNvPr id="4" name="Rectangle: Rounded Corners 3">
            <a:extLst>
              <a:ext uri="{FF2B5EF4-FFF2-40B4-BE49-F238E27FC236}">
                <a16:creationId xmlns:a16="http://schemas.microsoft.com/office/drawing/2014/main" id="{B3274EFA-41E3-2D52-E5E7-CF3F2021CF78}"/>
              </a:ext>
            </a:extLst>
          </p:cNvPr>
          <p:cNvSpPr/>
          <p:nvPr/>
        </p:nvSpPr>
        <p:spPr>
          <a:xfrm>
            <a:off x="548640" y="1325880"/>
            <a:ext cx="5449824" cy="233172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9E0F5D4E-AD8D-17F2-519A-AA6397F9628D}"/>
              </a:ext>
            </a:extLst>
          </p:cNvPr>
          <p:cNvSpPr txBox="1"/>
          <p:nvPr/>
        </p:nvSpPr>
        <p:spPr>
          <a:xfrm>
            <a:off x="777240" y="1490472"/>
            <a:ext cx="49377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Challenges</a:t>
            </a:r>
          </a:p>
        </p:txBody>
      </p:sp>
      <p:sp>
        <p:nvSpPr>
          <p:cNvPr id="6" name="TextBox 5">
            <a:extLst>
              <a:ext uri="{FF2B5EF4-FFF2-40B4-BE49-F238E27FC236}">
                <a16:creationId xmlns:a16="http://schemas.microsoft.com/office/drawing/2014/main" id="{3698F742-53EB-9815-4624-CE891B4396FD}"/>
              </a:ext>
            </a:extLst>
          </p:cNvPr>
          <p:cNvSpPr txBox="1"/>
          <p:nvPr/>
        </p:nvSpPr>
        <p:spPr>
          <a:xfrm>
            <a:off x="777240" y="1920240"/>
            <a:ext cx="502920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IN" sz="1300" dirty="0" err="1">
                <a:solidFill>
                  <a:srgbClr val="1C2430"/>
                </a:solidFill>
                <a:latin typeface="Calibri" panose="020F0502020204030204" pitchFamily="34" charset="0"/>
              </a:rPr>
              <a:t>BuildSilver</a:t>
            </a:r>
            <a:r>
              <a:rPr lang="en-IN" sz="1300" dirty="0">
                <a:solidFill>
                  <a:srgbClr val="1C2430"/>
                </a:solidFill>
                <a:latin typeface="Calibri" panose="020F0502020204030204" pitchFamily="34" charset="0"/>
              </a:rPr>
              <a:t>: 7.31 GB shuffle, 6.96 GB spill, 45 min</a:t>
            </a:r>
          </a:p>
          <a:p>
            <a:pPr marL="177800" indent="-177800">
              <a:spcAft>
                <a:spcPts val="400"/>
              </a:spcAft>
              <a:buFont typeface="+mj-lt"/>
              <a:buChar char="•"/>
            </a:pPr>
            <a:r>
              <a:rPr lang="en-IN" sz="1300" dirty="0">
                <a:solidFill>
                  <a:srgbClr val="1C2430"/>
                </a:solidFill>
                <a:latin typeface="Calibri" panose="020F0502020204030204" pitchFamily="34" charset="0"/>
              </a:rPr>
              <a:t>11 GB shared by Spark, HDFS, Kafka, PostgreSQL, Grafana</a:t>
            </a:r>
          </a:p>
        </p:txBody>
      </p:sp>
      <p:sp>
        <p:nvSpPr>
          <p:cNvPr id="7" name="Rectangle: Rounded Corners 6">
            <a:extLst>
              <a:ext uri="{FF2B5EF4-FFF2-40B4-BE49-F238E27FC236}">
                <a16:creationId xmlns:a16="http://schemas.microsoft.com/office/drawing/2014/main" id="{53F64A00-4D9F-2CD6-714B-2341C347D101}"/>
              </a:ext>
            </a:extLst>
          </p:cNvPr>
          <p:cNvSpPr/>
          <p:nvPr/>
        </p:nvSpPr>
        <p:spPr>
          <a:xfrm>
            <a:off x="6190488" y="1325880"/>
            <a:ext cx="5449824" cy="233172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9F7E834F-ABCF-0159-8F56-F52AD5B2B9F2}"/>
              </a:ext>
            </a:extLst>
          </p:cNvPr>
          <p:cNvSpPr txBox="1"/>
          <p:nvPr/>
        </p:nvSpPr>
        <p:spPr>
          <a:xfrm>
            <a:off x="6419088" y="1490472"/>
            <a:ext cx="49377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Limitations</a:t>
            </a:r>
          </a:p>
        </p:txBody>
      </p:sp>
      <p:sp>
        <p:nvSpPr>
          <p:cNvPr id="9" name="TextBox 8">
            <a:extLst>
              <a:ext uri="{FF2B5EF4-FFF2-40B4-BE49-F238E27FC236}">
                <a16:creationId xmlns:a16="http://schemas.microsoft.com/office/drawing/2014/main" id="{6D7DE9BC-2F39-B777-C277-927820701CB5}"/>
              </a:ext>
            </a:extLst>
          </p:cNvPr>
          <p:cNvSpPr txBox="1"/>
          <p:nvPr/>
        </p:nvSpPr>
        <p:spPr>
          <a:xfrm>
            <a:off x="6419088" y="1920240"/>
            <a:ext cx="502920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dirty="0">
                <a:solidFill>
                  <a:srgbClr val="1C2430"/>
                </a:solidFill>
                <a:latin typeface="Calibri" panose="020F0502020204030204" pitchFamily="34" charset="0"/>
              </a:rPr>
              <a:t>One dataset, two days, captured in a testbed</a:t>
            </a:r>
          </a:p>
          <a:p>
            <a:pPr marL="177800" indent="-177800">
              <a:spcAft>
                <a:spcPts val="400"/>
              </a:spcAft>
              <a:buFont typeface="+mj-lt"/>
              <a:buChar char="•"/>
            </a:pPr>
            <a:r>
              <a:rPr lang="en-US" sz="1300" dirty="0">
                <a:solidFill>
                  <a:srgbClr val="1C2430"/>
                </a:solidFill>
                <a:latin typeface="Calibri" panose="020F0502020204030204" pitchFamily="34" charset="0"/>
              </a:rPr>
              <a:t>Labels come from the dataset, standing in for an analyst</a:t>
            </a:r>
          </a:p>
          <a:p>
            <a:pPr marL="177800" indent="-177800">
              <a:spcAft>
                <a:spcPts val="400"/>
              </a:spcAft>
              <a:buFont typeface="+mj-lt"/>
              <a:buChar char="•"/>
            </a:pPr>
            <a:r>
              <a:rPr lang="en-US" sz="1300" dirty="0">
                <a:solidFill>
                  <a:srgbClr val="1C2430"/>
                </a:solidFill>
                <a:latin typeface="Calibri" panose="020F0502020204030204" pitchFamily="34" charset="0"/>
              </a:rPr>
              <a:t>One machine: HDFS replication 1</a:t>
            </a:r>
          </a:p>
          <a:p>
            <a:pPr marL="177800" indent="-177800">
              <a:spcAft>
                <a:spcPts val="400"/>
              </a:spcAft>
              <a:buFont typeface="+mj-lt"/>
              <a:buChar char="•"/>
            </a:pPr>
            <a:r>
              <a:rPr lang="en-US" sz="1300" dirty="0">
                <a:solidFill>
                  <a:srgbClr val="1C2430"/>
                </a:solidFill>
                <a:latin typeface="Calibri" panose="020F0502020204030204" pitchFamily="34" charset="0"/>
              </a:rPr>
              <a:t>Detects attacks; does not block them</a:t>
            </a:r>
            <a:endParaRPr lang="en-IN" sz="1300" dirty="0">
              <a:solidFill>
                <a:srgbClr val="1C2430"/>
              </a:solidFill>
              <a:latin typeface="Calibri" panose="020F0502020204030204" pitchFamily="34" charset="0"/>
            </a:endParaRPr>
          </a:p>
        </p:txBody>
      </p:sp>
      <p:sp>
        <p:nvSpPr>
          <p:cNvPr id="10" name="Rectangle: Rounded Corners 9">
            <a:extLst>
              <a:ext uri="{FF2B5EF4-FFF2-40B4-BE49-F238E27FC236}">
                <a16:creationId xmlns:a16="http://schemas.microsoft.com/office/drawing/2014/main" id="{D52F2C7A-C914-3328-1001-547F480397C3}"/>
              </a:ext>
            </a:extLst>
          </p:cNvPr>
          <p:cNvSpPr/>
          <p:nvPr/>
        </p:nvSpPr>
        <p:spPr>
          <a:xfrm>
            <a:off x="548640" y="3840480"/>
            <a:ext cx="5449824" cy="233172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TextBox 10">
            <a:extLst>
              <a:ext uri="{FF2B5EF4-FFF2-40B4-BE49-F238E27FC236}">
                <a16:creationId xmlns:a16="http://schemas.microsoft.com/office/drawing/2014/main" id="{F179FE4D-4541-9C69-103C-8F50DE7DDCC5}"/>
              </a:ext>
            </a:extLst>
          </p:cNvPr>
          <p:cNvSpPr txBox="1"/>
          <p:nvPr/>
        </p:nvSpPr>
        <p:spPr>
          <a:xfrm>
            <a:off x="777240" y="4005072"/>
            <a:ext cx="49377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Conclusion</a:t>
            </a:r>
          </a:p>
        </p:txBody>
      </p:sp>
      <p:sp>
        <p:nvSpPr>
          <p:cNvPr id="12" name="TextBox 11">
            <a:extLst>
              <a:ext uri="{FF2B5EF4-FFF2-40B4-BE49-F238E27FC236}">
                <a16:creationId xmlns:a16="http://schemas.microsoft.com/office/drawing/2014/main" id="{2DF1AF01-B527-D7DE-B834-1055B2EC6635}"/>
              </a:ext>
            </a:extLst>
          </p:cNvPr>
          <p:cNvSpPr txBox="1"/>
          <p:nvPr/>
        </p:nvSpPr>
        <p:spPr>
          <a:xfrm>
            <a:off x="777240" y="4434840"/>
            <a:ext cx="502920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dirty="0">
                <a:solidFill>
                  <a:srgbClr val="1C2430"/>
                </a:solidFill>
                <a:latin typeface="Calibri" panose="020F0502020204030204" pitchFamily="34" charset="0"/>
              </a:rPr>
              <a:t>Four of five models collapse on a new day; 96-99.9% of their mistakes are in unfamiliar traffic</a:t>
            </a:r>
          </a:p>
          <a:p>
            <a:pPr marL="177800" indent="-177800">
              <a:spcAft>
                <a:spcPts val="400"/>
              </a:spcAft>
              <a:buFont typeface="+mj-lt"/>
              <a:buChar char="•"/>
            </a:pPr>
            <a:r>
              <a:rPr lang="en-US" sz="1300" dirty="0">
                <a:solidFill>
                  <a:srgbClr val="1C2430"/>
                </a:solidFill>
                <a:latin typeface="Calibri" panose="020F0502020204030204" pitchFamily="34" charset="0"/>
              </a:rPr>
              <a:t>Router + label copying: every model improves, forest 0.967 to 0.982, NN 0.685 to 0.983, with 1,000 labels and no retraining</a:t>
            </a:r>
          </a:p>
          <a:p>
            <a:pPr>
              <a:spcAft>
                <a:spcPts val="400"/>
              </a:spcAft>
            </a:pPr>
            <a:endParaRPr lang="en-IN" sz="1300" dirty="0">
              <a:solidFill>
                <a:srgbClr val="1C2430"/>
              </a:solidFill>
              <a:latin typeface="Calibri" panose="020F0502020204030204" pitchFamily="34" charset="0"/>
            </a:endParaRPr>
          </a:p>
        </p:txBody>
      </p:sp>
      <p:sp>
        <p:nvSpPr>
          <p:cNvPr id="13" name="Rectangle: Rounded Corners 12">
            <a:extLst>
              <a:ext uri="{FF2B5EF4-FFF2-40B4-BE49-F238E27FC236}">
                <a16:creationId xmlns:a16="http://schemas.microsoft.com/office/drawing/2014/main" id="{2F720541-FDF9-5075-A728-09E4D4A55534}"/>
              </a:ext>
            </a:extLst>
          </p:cNvPr>
          <p:cNvSpPr/>
          <p:nvPr/>
        </p:nvSpPr>
        <p:spPr>
          <a:xfrm>
            <a:off x="6190488" y="3840480"/>
            <a:ext cx="5449824" cy="2331720"/>
          </a:xfrm>
          <a:prstGeom prst="roundRect">
            <a:avLst>
              <a:gd name="adj" fmla="val 6000"/>
            </a:avLst>
          </a:prstGeom>
          <a:solidFill>
            <a:srgbClr val="EEF2F5"/>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900BAF4E-DAC9-B243-2C80-EBB6AF223D40}"/>
              </a:ext>
            </a:extLst>
          </p:cNvPr>
          <p:cNvSpPr txBox="1"/>
          <p:nvPr/>
        </p:nvSpPr>
        <p:spPr>
          <a:xfrm>
            <a:off x="6419088" y="4005072"/>
            <a:ext cx="4937760" cy="276999"/>
          </a:xfrm>
          <a:prstGeom prst="rect">
            <a:avLst/>
          </a:prstGeom>
          <a:noFill/>
        </p:spPr>
        <p:txBody>
          <a:bodyPr vert="horz" wrap="square" lIns="0" tIns="0" rIns="0" bIns="0" rtlCol="0">
            <a:noAutofit/>
          </a:bodyPr>
          <a:lstStyle/>
          <a:p>
            <a:r>
              <a:rPr lang="en-IN" sz="1700" b="1">
                <a:solidFill>
                  <a:srgbClr val="2E8B7A"/>
                </a:solidFill>
                <a:latin typeface="Cambria" panose="02040503050406030204" pitchFamily="18" charset="0"/>
              </a:rPr>
              <a:t>Future work</a:t>
            </a:r>
          </a:p>
        </p:txBody>
      </p:sp>
      <p:sp>
        <p:nvSpPr>
          <p:cNvPr id="15" name="TextBox 14">
            <a:extLst>
              <a:ext uri="{FF2B5EF4-FFF2-40B4-BE49-F238E27FC236}">
                <a16:creationId xmlns:a16="http://schemas.microsoft.com/office/drawing/2014/main" id="{19E139AA-F205-23D8-0CC3-59CAC46C07FA}"/>
              </a:ext>
            </a:extLst>
          </p:cNvPr>
          <p:cNvSpPr txBox="1"/>
          <p:nvPr/>
        </p:nvSpPr>
        <p:spPr>
          <a:xfrm>
            <a:off x="6419088" y="4434840"/>
            <a:ext cx="5029200" cy="276999"/>
          </a:xfrm>
          <a:prstGeom prst="rect">
            <a:avLst/>
          </a:prstGeom>
          <a:noFill/>
        </p:spPr>
        <p:txBody>
          <a:bodyPr vert="horz" wrap="square" lIns="0" tIns="0" rIns="0" bIns="0" rtlCol="0">
            <a:noAutofit/>
          </a:bodyPr>
          <a:lstStyle/>
          <a:p>
            <a:pPr marL="177800" indent="-177800">
              <a:spcAft>
                <a:spcPts val="400"/>
              </a:spcAft>
              <a:buFont typeface="+mj-lt"/>
              <a:buChar char="•"/>
            </a:pPr>
            <a:r>
              <a:rPr lang="en-US" sz="1300" dirty="0">
                <a:solidFill>
                  <a:srgbClr val="1C2430"/>
                </a:solidFill>
                <a:latin typeface="Calibri" panose="020F0502020204030204" pitchFamily="34" charset="0"/>
              </a:rPr>
              <a:t>A real analyst in the label loop</a:t>
            </a:r>
          </a:p>
          <a:p>
            <a:pPr marL="177800" indent="-177800">
              <a:spcAft>
                <a:spcPts val="400"/>
              </a:spcAft>
              <a:buFont typeface="+mj-lt"/>
              <a:buChar char="•"/>
            </a:pPr>
            <a:r>
              <a:rPr lang="en-US" sz="1300" dirty="0">
                <a:solidFill>
                  <a:srgbClr val="1C2430"/>
                </a:solidFill>
                <a:latin typeface="Calibri" panose="020F0502020204030204" pitchFamily="34" charset="0"/>
              </a:rPr>
              <a:t>Multi-node cluster </a:t>
            </a:r>
          </a:p>
          <a:p>
            <a:pPr marL="177800" indent="-177800">
              <a:spcAft>
                <a:spcPts val="400"/>
              </a:spcAft>
              <a:buFont typeface="+mj-lt"/>
              <a:buChar char="•"/>
            </a:pPr>
            <a:r>
              <a:rPr lang="en-US" sz="1300" dirty="0">
                <a:solidFill>
                  <a:srgbClr val="1C2430"/>
                </a:solidFill>
                <a:latin typeface="Calibri" panose="020F0502020204030204" pitchFamily="34" charset="0"/>
              </a:rPr>
              <a:t>Update the familiarity limit online</a:t>
            </a:r>
          </a:p>
          <a:p>
            <a:pPr marL="177800" indent="-177800">
              <a:spcAft>
                <a:spcPts val="400"/>
              </a:spcAft>
              <a:buFont typeface="+mj-lt"/>
              <a:buChar char="•"/>
            </a:pPr>
            <a:r>
              <a:rPr lang="en-US" sz="1300" dirty="0">
                <a:solidFill>
                  <a:srgbClr val="1C2430"/>
                </a:solidFill>
                <a:latin typeface="Calibri" panose="020F0502020204030204" pitchFamily="34" charset="0"/>
              </a:rPr>
              <a:t>Test on other datasets and add blocking</a:t>
            </a:r>
            <a:endParaRPr lang="en-IN" sz="1300" dirty="0">
              <a:solidFill>
                <a:srgbClr val="1C2430"/>
              </a:solidFill>
              <a:latin typeface="Calibri" panose="020F0502020204030204" pitchFamily="34" charset="0"/>
            </a:endParaRPr>
          </a:p>
        </p:txBody>
      </p:sp>
    </p:spTree>
    <p:extLst>
      <p:ext uri="{BB962C8B-B14F-4D97-AF65-F5344CB8AC3E}">
        <p14:creationId xmlns:p14="http://schemas.microsoft.com/office/powerpoint/2010/main" val="613929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47472"/>
            <a:ext cx="11094415" cy="822960"/>
          </a:xfrm>
          <a:prstGeom prst="rect">
            <a:avLst/>
          </a:prstGeom>
          <a:noFill/>
          <a:ln/>
        </p:spPr>
        <p:txBody>
          <a:bodyPr wrap="square" lIns="0" tIns="0" rIns="0" bIns="0" rtlCol="0" anchor="ctr"/>
          <a:lstStyle/>
          <a:p>
            <a:pPr marL="0" indent="0" algn="l">
              <a:buNone/>
            </a:pPr>
            <a:r>
              <a:rPr lang="en-US" sz="3000"/>
              <a:t>References and GitHub</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2689702888"/>
              </p:ext>
            </p:extLst>
          </p:nvPr>
        </p:nvGraphicFramePr>
        <p:xfrm>
          <a:off x="548640" y="1371600"/>
          <a:ext cx="11091672" cy="4462272"/>
        </p:xfrm>
        <a:graphic>
          <a:graphicData uri="http://schemas.openxmlformats.org/drawingml/2006/table">
            <a:tbl>
              <a:tblPr/>
              <a:tblGrid>
                <a:gridCol w="365760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2880360">
                  <a:extLst>
                    <a:ext uri="{9D8B030D-6E8A-4147-A177-3AD203B41FA5}">
                      <a16:colId xmlns:a16="http://schemas.microsoft.com/office/drawing/2014/main" val="20002"/>
                    </a:ext>
                  </a:extLst>
                </a:gridCol>
                <a:gridCol w="3090672">
                  <a:extLst>
                    <a:ext uri="{9D8B030D-6E8A-4147-A177-3AD203B41FA5}">
                      <a16:colId xmlns:a16="http://schemas.microsoft.com/office/drawing/2014/main" val="20003"/>
                    </a:ext>
                  </a:extLst>
                </a:gridCol>
              </a:tblGrid>
              <a:tr h="365760">
                <a:tc>
                  <a:txBody>
                    <a:bodyPr/>
                    <a:lstStyle/>
                    <a:p>
                      <a:pPr marL="0" indent="0">
                        <a:buNone/>
                      </a:pPr>
                      <a:r>
                        <a:rPr lang="en-US" sz="1200" b="1">
                          <a:solidFill>
                            <a:schemeClr val="bg1"/>
                          </a:solidFill>
                        </a:rPr>
                        <a:t>Paper</a:t>
                      </a:r>
                      <a:endParaRPr lang="en-US" sz="1200" dirty="0"/>
                    </a:p>
                  </a:txBody>
                  <a:tcPr marL="88900" marR="88900" marT="63500" marB="63500" anchor="ctr">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accent4"/>
                    </a:solidFill>
                  </a:tcPr>
                </a:tc>
                <a:tc>
                  <a:txBody>
                    <a:bodyPr/>
                    <a:lstStyle/>
                    <a:p>
                      <a:pPr marL="0" indent="0">
                        <a:buNone/>
                      </a:pPr>
                      <a:r>
                        <a:rPr lang="en-US" sz="1200" b="1">
                          <a:solidFill>
                            <a:schemeClr val="bg1"/>
                          </a:solidFill>
                        </a:rPr>
                        <a:t>Published</a:t>
                      </a:r>
                      <a:endParaRPr lang="en-US" sz="1200" dirty="0"/>
                    </a:p>
                  </a:txBody>
                  <a:tcPr marL="88900" marR="88900" marT="63500" marB="63500" anchor="ctr">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accent4"/>
                    </a:solidFill>
                  </a:tcPr>
                </a:tc>
                <a:tc>
                  <a:txBody>
                    <a:bodyPr/>
                    <a:lstStyle/>
                    <a:p>
                      <a:pPr marL="0" indent="0">
                        <a:buNone/>
                      </a:pPr>
                      <a:r>
                        <a:rPr lang="en-US" sz="1200" b="1">
                          <a:solidFill>
                            <a:schemeClr val="bg1"/>
                          </a:solidFill>
                        </a:rPr>
                        <a:t>Its limitation</a:t>
                      </a:r>
                      <a:endParaRPr lang="en-US" sz="1200" dirty="0"/>
                    </a:p>
                  </a:txBody>
                  <a:tcPr marL="88900" marR="88900" marT="63500" marB="63500" anchor="ctr">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accent4"/>
                    </a:solidFill>
                  </a:tcPr>
                </a:tc>
                <a:tc>
                  <a:txBody>
                    <a:bodyPr/>
                    <a:lstStyle/>
                    <a:p>
                      <a:pPr marL="0" indent="0">
                        <a:buNone/>
                      </a:pPr>
                      <a:r>
                        <a:rPr lang="en-US" sz="1200" b="1">
                          <a:solidFill>
                            <a:schemeClr val="bg1"/>
                          </a:solidFill>
                        </a:rPr>
                        <a:t>How our project answers it</a:t>
                      </a:r>
                      <a:endParaRPr lang="en-US" sz="1200" dirty="0"/>
                    </a:p>
                  </a:txBody>
                  <a:tcPr marL="88900" marR="88900" marT="63500" marB="63500" anchor="ctr">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accent4"/>
                    </a:solidFill>
                  </a:tcPr>
                </a:tc>
                <a:extLst>
                  <a:ext uri="{0D108BD9-81ED-4DB2-BD59-A6C34878D82A}">
                    <a16:rowId xmlns:a16="http://schemas.microsoft.com/office/drawing/2014/main" val="10000"/>
                  </a:ext>
                </a:extLst>
              </a:tr>
              <a:tr h="1024128">
                <a:tc>
                  <a:txBody>
                    <a:bodyPr/>
                    <a:lstStyle/>
                    <a:p>
                      <a:pPr marL="0" indent="0">
                        <a:buNone/>
                      </a:pPr>
                      <a:r>
                        <a:rPr lang="en-US" sz="1150">
                          <a:solidFill>
                            <a:schemeClr val="tx1"/>
                          </a:solidFill>
                        </a:rPr>
                        <a:t>Real-Time DDoS Attack Detection System Using Big Data Approach</a:t>
                      </a:r>
                    </a:p>
                    <a:p>
                      <a:pPr marL="0" indent="0">
                        <a:buNone/>
                      </a:pPr>
                      <a:r>
                        <a:rPr lang="en-US" sz="1150">
                          <a:solidFill>
                            <a:schemeClr val="tx1"/>
                          </a:solidFill>
                        </a:rPr>
                        <a:t>Awan et al.</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Sustainability (MDPI), 2021</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Spark ML with random forest reports 99.5% accuracy, but on one dataset with no test on later traffic and no handling of traffic that changes</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We tested the same kind of models on a later day: four of five fell to 0.46-0.76. The router lifts three of them back to 0.95-0.97</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024128">
                <a:tc>
                  <a:txBody>
                    <a:bodyPr/>
                    <a:lstStyle/>
                    <a:p>
                      <a:pPr marL="0" indent="0">
                        <a:buNone/>
                      </a:pPr>
                      <a:r>
                        <a:rPr lang="en-US" sz="1150">
                          <a:solidFill>
                            <a:schemeClr val="tx1"/>
                          </a:solidFill>
                        </a:rPr>
                        <a:t>TESSERACT: Eliminating Experimental Bias in Malware Classification across Space and Time</a:t>
                      </a:r>
                    </a:p>
                    <a:p>
                      <a:pPr marL="0" indent="0">
                        <a:buNone/>
                      </a:pPr>
                      <a:r>
                        <a:rPr lang="en-US" sz="1150">
                          <a:solidFill>
                            <a:schemeClr val="tx1"/>
                          </a:solidFill>
                        </a:rPr>
                        <a:t>Pendlebury, Pierazzi, Jordaney, Kinder, Cavallaro</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USENIX Security, 2019</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Shows that models decay over time; its remedies are retraining or active learning, and the authors call full retraining likely unrealistic because everything must be labelled</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Label copying learns from the new day with 1,000 labels and no retraining at all</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1024128">
                <a:tc>
                  <a:txBody>
                    <a:bodyPr/>
                    <a:lstStyle/>
                    <a:p>
                      <a:pPr marL="0" indent="0">
                        <a:buNone/>
                      </a:pPr>
                      <a:r>
                        <a:rPr lang="en-US" sz="1150">
                          <a:solidFill>
                            <a:schemeClr val="tx1"/>
                          </a:solidFill>
                        </a:rPr>
                        <a:t>Transcend: Detecting Concept Drift in Malware Classification Models</a:t>
                      </a:r>
                    </a:p>
                    <a:p>
                      <a:pPr marL="0" indent="0">
                        <a:buNone/>
                      </a:pPr>
                      <a:r>
                        <a:rPr lang="en-US" sz="1150">
                          <a:solidFill>
                            <a:schemeClr val="tx1"/>
                          </a:solidFill>
                        </a:rPr>
                        <a:t>Jordaney et al.</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USENIX Security, 2017</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Rejects predictions it cannot trust, so those samples get no answer; its conformal evaluation was costly enough that a 2022 follow-up was needed to reduce the overhead</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Nothing is rejected: unfamiliar traffic goes to the random forest. The K-Means check is cheap, and the whole stream is scored 1.6 times faster (2.76 times during the Syn flood)</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1024128">
                <a:tc>
                  <a:txBody>
                    <a:bodyPr/>
                    <a:lstStyle/>
                    <a:p>
                      <a:pPr marL="0" indent="0">
                        <a:buNone/>
                      </a:pPr>
                      <a:r>
                        <a:rPr lang="en-US" sz="1150">
                          <a:solidFill>
                            <a:schemeClr val="tx1"/>
                          </a:solidFill>
                        </a:rPr>
                        <a:t>CADE: Detecting and Explaining Concept Drift Samples for Security Applications</a:t>
                      </a:r>
                    </a:p>
                    <a:p>
                      <a:pPr marL="0" indent="0">
                        <a:buNone/>
                      </a:pPr>
                      <a:r>
                        <a:rPr lang="en-US" sz="1150">
                          <a:solidFill>
                            <a:schemeClr val="tx1"/>
                          </a:solidFill>
                        </a:rPr>
                        <a:t>Yang, Guo, Hao, Ciptadi, Ahmadzadeh, Xing, Wang</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USENIX Security, 2021</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a:solidFill>
                            <a:schemeClr val="tx1"/>
                          </a:solidFill>
                        </a:rPr>
                        <a:t>Needs an extra neural network trained to measure distance, and only flags drifting samples for an analyst; the model stays wrong until it is retrained</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tc>
                  <a:txBody>
                    <a:bodyPr/>
                    <a:lstStyle/>
                    <a:p>
                      <a:pPr marL="0" indent="0">
                        <a:buNone/>
                      </a:pPr>
                      <a:r>
                        <a:rPr lang="en-US" sz="1150" dirty="0">
                          <a:solidFill>
                            <a:schemeClr val="tx1"/>
                          </a:solidFill>
                        </a:rPr>
                        <a:t>Plain K-Means needs nothing extra to train, and flagged traffic is answered in the same tick by the forest or a copied label</a:t>
                      </a:r>
                      <a:endParaRPr lang="en-US" sz="1150" dirty="0"/>
                    </a:p>
                  </a:txBody>
                  <a:tcPr marL="88900" marR="88900" marT="63500" marB="63500">
                    <a:lnL w="9525" cap="flat" cmpd="sng" algn="ctr">
                      <a:solidFill>
                        <a:srgbClr val="D5DBE2"/>
                      </a:solidFill>
                      <a:prstDash val="solid"/>
                      <a:round/>
                      <a:headEnd type="none" w="med" len="med"/>
                      <a:tailEnd type="none" w="med" len="med"/>
                    </a:lnL>
                    <a:lnR w="9525" cap="flat" cmpd="sng" algn="ctr">
                      <a:solidFill>
                        <a:srgbClr val="D5DBE2"/>
                      </a:solidFill>
                      <a:prstDash val="solid"/>
                      <a:round/>
                      <a:headEnd type="none" w="med" len="med"/>
                      <a:tailEnd type="none" w="med" len="med"/>
                    </a:lnR>
                    <a:lnT w="9525" cap="flat" cmpd="sng" algn="ctr">
                      <a:solidFill>
                        <a:srgbClr val="D5DBE2"/>
                      </a:solidFill>
                      <a:prstDash val="solid"/>
                      <a:round/>
                      <a:headEnd type="none" w="med" len="med"/>
                      <a:tailEnd type="none" w="med" len="med"/>
                    </a:lnT>
                    <a:lnB w="9525" cap="flat" cmpd="sng" algn="ctr">
                      <a:solidFill>
                        <a:srgbClr val="D5DBE2"/>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19088"/>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
        <p:nvSpPr>
          <p:cNvPr id="3" name="TextBox 2">
            <a:extLst>
              <a:ext uri="{FF2B5EF4-FFF2-40B4-BE49-F238E27FC236}">
                <a16:creationId xmlns:a16="http://schemas.microsoft.com/office/drawing/2014/main" id="{7C810B08-0465-A29A-00F1-8014BAFCAF70}"/>
              </a:ext>
            </a:extLst>
          </p:cNvPr>
          <p:cNvSpPr txBox="1"/>
          <p:nvPr/>
        </p:nvSpPr>
        <p:spPr>
          <a:xfrm>
            <a:off x="548640" y="5897880"/>
            <a:ext cx="10972800" cy="276999"/>
          </a:xfrm>
          <a:prstGeom prst="rect">
            <a:avLst/>
          </a:prstGeom>
          <a:noFill/>
        </p:spPr>
        <p:txBody>
          <a:bodyPr vert="horz" wrap="square" lIns="0" tIns="0" rIns="0" bIns="0" rtlCol="0">
            <a:noAutofit/>
          </a:bodyPr>
          <a:lstStyle/>
          <a:p>
            <a:endParaRPr lang="en-IN" sz="1300" b="1" dirty="0">
              <a:solidFill>
                <a:srgbClr val="1C2430"/>
              </a:solidFill>
              <a:latin typeface="Calibri" panose="020F0502020204030204" pitchFamily="34" charset="0"/>
            </a:endParaRPr>
          </a:p>
        </p:txBody>
      </p:sp>
    </p:spTree>
  </p:cSld>
  <p:clrMapOvr>
    <a:masterClrMapping/>
  </p:clrMapOvr>
</p:sld>
</file>

<file path=ppt/theme/theme1.xml><?xml version="1.0" encoding="utf-8"?>
<a:theme xmlns:a="http://schemas.openxmlformats.org/drawingml/2006/main" name="DDoS Router">
  <a:themeElements>
    <a:clrScheme name="DDoS Router">
      <a:dk1>
        <a:srgbClr val="1C2430"/>
      </a:dk1>
      <a:lt1>
        <a:srgbClr val="FFFFFF"/>
      </a:lt1>
      <a:dk2>
        <a:srgbClr val="151A20"/>
      </a:dk2>
      <a:lt2>
        <a:srgbClr val="EEF2F5"/>
      </a:lt2>
      <a:accent1>
        <a:srgbClr val="2E8B7A"/>
      </a:accent1>
      <a:accent2>
        <a:srgbClr val="D9796C"/>
      </a:accent2>
      <a:accent3>
        <a:srgbClr val="D99A2B"/>
      </a:accent3>
      <a:accent4>
        <a:srgbClr val="5F7F95"/>
      </a:accent4>
      <a:accent5>
        <a:srgbClr val="8D99A6"/>
      </a:accent5>
      <a:accent6>
        <a:srgbClr val="6F8FD0"/>
      </a:accent6>
      <a:hlink>
        <a:srgbClr val="2E6FA8"/>
      </a:hlink>
      <a:folHlink>
        <a:srgbClr val="6B5B95"/>
      </a:folHlink>
    </a:clrScheme>
    <a:fontScheme name="DDoS Rout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TotalTime>
  <Words>4151</Words>
  <Application>Microsoft Office PowerPoint</Application>
  <PresentationFormat>Widescreen</PresentationFormat>
  <Paragraphs>337</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Consolas</vt:lpstr>
      <vt:lpstr>DDoS Router</vt:lpstr>
      <vt:lpstr>Familiarity routing with label copying for efficient DDoS detection</vt:lpstr>
      <vt:lpstr>Problem, objectives and why big data</vt:lpstr>
      <vt:lpstr>Dataset: CSE-CIC-DDoS2019</vt:lpstr>
      <vt:lpstr>End to end pipeline</vt:lpstr>
      <vt:lpstr>Spark setup</vt:lpstr>
      <vt:lpstr>Spark workflow: DataFrame jobs, partitions, DAG and caching</vt:lpstr>
      <vt:lpstr>Scala implementation: project structure and key code</vt:lpstr>
      <vt:lpstr>Spark ML pipeline: features, algorithms and tuning</vt:lpstr>
      <vt:lpstr>Models </vt:lpstr>
      <vt:lpstr>Inference from the dataset</vt:lpstr>
      <vt:lpstr>Idea 1: let the cheap model answer only what it knows</vt:lpstr>
      <vt:lpstr>Idea 2: copy the answer from a connection we already know</vt:lpstr>
      <vt:lpstr>Results: higher scores for every model, and faster</vt:lpstr>
      <vt:lpstr>Results: live Grafana dashboard</vt:lpstr>
      <vt:lpstr>Results: user-side website and assistant</vt:lpstr>
      <vt:lpstr>Challenges, limitations, conclusion and future work</vt:lpstr>
      <vt:lpstr>References and GitHub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Catching DDoS attacks the day after training</dc:title>
  <dc:subject>PptxGenJS Presentation</dc:subject>
  <dc:creator>23AID302 project team</dc:creator>
  <cp:lastModifiedBy>Vishnu Vardhan N</cp:lastModifiedBy>
  <cp:revision>15</cp:revision>
  <dcterms:created xsi:type="dcterms:W3CDTF">2026-10-15T05:20:11Z</dcterms:created>
  <dcterms:modified xsi:type="dcterms:W3CDTF">2026-10-15T12:27:02Z</dcterms:modified>
</cp:coreProperties>
</file>